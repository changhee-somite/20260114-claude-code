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343" r:id="rId5"/>
    <p:sldId id="344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  <p:sldId id="390" r:id="rId46"/>
    <p:sldId id="391" r:id="rId47"/>
    <p:sldId id="392" r:id="rId48"/>
    <p:sldId id="393" r:id="rId49"/>
    <p:sldId id="394" r:id="rId50"/>
    <p:sldId id="395" r:id="rId51"/>
    <p:sldId id="396" r:id="rId52"/>
    <p:sldId id="397" r:id="rId53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Default Section" id="{9D01FFA6-525C-784E-8A01-A0575A0AFB5C}">
          <p14:sldIdLst>
            <p14:sldId id="343"/>
            <p14:sldId id="344"/>
          </p14:sldIdLst>
        </p14:section>
        <p14:section name="Section 1 Paradigm shift" id="{B5C3DBD5-B372-2042-A94B-EC90ECF33E20}">
          <p14:sldIdLst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</p14:sldIdLst>
        </p14:section>
        <p14:section name="Section 2 Context Engineering" id="{6D1DB785-4D28-D041-900C-41589E8A7DFE}">
          <p14:sldIdLst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Section 3: Getting started" id="{855109F2-AEE0-1945-8457-3E1734315D1F}">
          <p14:sldIdLst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</p14:sldIdLst>
        </p14:section>
        <p14:section name="Section 4 vs Cursor, Alternatives" id="{3BC931D8-443A-DC43-8732-89A3A3D88371}">
          <p14:sldIdLst>
            <p14:sldId id="381"/>
            <p14:sldId id="382"/>
            <p14:sldId id="383"/>
            <p14:sldId id="384"/>
            <p14:sldId id="385"/>
          </p14:sldIdLst>
        </p14:section>
        <p14:section name="Section 5 Demo &amp; Future" id="{1C11F3F5-FDBA-CF4D-94BE-C3FB13E4FAE5}">
          <p14:sldIdLst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  <p14:section name="Appendix" id="{7E07AE63-4047-DA46-90A7-0221BDF07C5D}">
          <p14:sldIdLst>
            <p14:sldId id="395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1"/>
    <p:restoredTop sz="94716"/>
  </p:normalViewPr>
  <p:slideViewPr>
    <p:cSldViewPr snapToGrid="0">
      <p:cViewPr varScale="1">
        <p:scale>
          <a:sx n="233" d="100"/>
          <a:sy n="233" d="100"/>
        </p:scale>
        <p:origin x="240" y="872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2286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https://</a:t>
            </a:r>
            <a:r>
              <a:rPr lang="en-US" sz="110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mike.tech</a:t>
            </a:r>
            <a:r>
              <a:rPr lang="en-US" sz="11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/blog/death-of-software-development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5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6875187" cy="2324100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Claude Code: From Coding to Workflow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3992" y="3516317"/>
            <a:ext cx="6875187" cy="793750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dirty="0"/>
              <a:t>ChangHee Lee
Computational Team Lunch &amp; Learn 2026-01-14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2" y="5291280"/>
            <a:ext cx="7870548" cy="1566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B853A-30B4-43ED-6ABC-0C0FB19B2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415" y="395005"/>
            <a:ext cx="4321585" cy="647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Agenda</a:t>
            </a:r>
            <a:endParaRPr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2880" indent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dirty="0"/>
              <a:t>The Paradigm Shift — From coding to orchestration</a:t>
            </a:r>
          </a:p>
          <a:p>
            <a:pPr marL="182880" indent="0" algn="l">
              <a:buNone/>
            </a:pPr>
            <a:r>
              <a:rPr dirty="0"/>
              <a:t>Context Engineering — The fundamental constraint</a:t>
            </a:r>
          </a:p>
          <a:p>
            <a:pPr marL="182880" indent="0" algn="l">
              <a:buNone/>
            </a:pPr>
            <a:r>
              <a:rPr dirty="0"/>
              <a:t>Getting Started — Installation and configuration</a:t>
            </a:r>
          </a:p>
          <a:p>
            <a:pPr marL="182880" indent="0" algn="l">
              <a:buNone/>
            </a:pPr>
            <a:r>
              <a:rPr lang="en-US" dirty="0"/>
              <a:t>Vs </a:t>
            </a:r>
            <a:r>
              <a:rPr dirty="0"/>
              <a:t>Cursor</a:t>
            </a:r>
            <a:r>
              <a:rPr lang="en-US" dirty="0"/>
              <a:t> and</a:t>
            </a:r>
            <a:r>
              <a:rPr dirty="0"/>
              <a:t> Alternatives — Comparing tools</a:t>
            </a:r>
          </a:p>
          <a:p>
            <a:pPr marL="182880" indent="0" algn="l">
              <a:buNone/>
            </a:pPr>
            <a:r>
              <a:rPr lang="en-US" dirty="0"/>
              <a:t>D</a:t>
            </a:r>
            <a:r>
              <a:rPr dirty="0"/>
              <a:t>emo &amp; Future — Live demo and what's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1: The Paradigm 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From writing code to designing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We are stuck in an old mental model.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Developer writes code line by line</a:t>
            </a:r>
          </a:p>
          <a:p>
            <a:pPr marL="731520" lvl="1" indent="-182880" algn="l">
              <a:buChar char="•"/>
            </a:pPr>
            <a:r>
              <a:t>New: Developer describes outcomes</a:t>
            </a:r>
          </a:p>
          <a:p>
            <a:pPr marL="365760" indent="-182880" algn="l">
              <a:buChar char="•"/>
            </a:pPr>
            <a:r>
              <a:t>Old: IDE assists with autocomplete</a:t>
            </a:r>
          </a:p>
          <a:p>
            <a:pPr marL="731520" lvl="1" indent="-182880" algn="l">
              <a:buChar char="•"/>
            </a:pPr>
            <a:r>
              <a:t>New: Agent plans and executes</a:t>
            </a:r>
          </a:p>
          <a:p>
            <a:pPr marL="365760" indent="-182880" algn="l">
              <a:buChar char="•"/>
            </a:pPr>
            <a:r>
              <a:t>Old: Human is the executor</a:t>
            </a:r>
          </a:p>
          <a:p>
            <a:pPr marL="731520" lvl="1" indent="-182880" algn="l">
              <a:buChar char="•"/>
            </a:pPr>
            <a:r>
              <a:t>New: Human supervises and validates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Engineers now design systems.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032526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One person built a </a:t>
            </a:r>
            <a:r>
              <a:rPr dirty="0" err="1"/>
              <a:t>Polymarket</a:t>
            </a:r>
            <a:r>
              <a:rPr dirty="0"/>
              <a:t> tool in 2 hours without writing code</a:t>
            </a:r>
          </a:p>
          <a:p>
            <a:pPr marL="365760" indent="-182880" algn="l">
              <a:buChar char="•"/>
            </a:pPr>
            <a:r>
              <a:rPr dirty="0"/>
              <a:t>The technique mattered more than which AI </a:t>
            </a:r>
            <a:r>
              <a:rPr lang="en-US" dirty="0"/>
              <a:t>model (Opus/Gemini etc.) </a:t>
            </a:r>
            <a:r>
              <a:rPr dirty="0"/>
              <a:t>was used</a:t>
            </a:r>
          </a:p>
          <a:p>
            <a:pPr marL="365760" indent="-182880" algn="l">
              <a:buChar char="•"/>
            </a:pPr>
            <a:r>
              <a:rPr dirty="0"/>
              <a:t>Architecture and process design become primary skills</a:t>
            </a:r>
          </a:p>
          <a:p>
            <a:pPr marL="365760" indent="-182880" algn="l">
              <a:buChar char="•"/>
            </a:pPr>
            <a:r>
              <a:rPr dirty="0"/>
              <a:t>"The outcome is defined by the process, not the model." — </a:t>
            </a:r>
            <a:r>
              <a:rPr dirty="0" err="1"/>
              <a:t>Mike.tech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F56C8219-194F-79C5-972D-78C97A751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123" y="1510234"/>
            <a:ext cx="5563483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You communicate </a:t>
            </a:r>
            <a:r>
              <a:rPr b="1" i="1" u="sng" dirty="0"/>
              <a:t>intent</a:t>
            </a:r>
            <a:r>
              <a:rPr b="1" dirty="0"/>
              <a:t> to agents.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908890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Use XML tags: &lt;task&gt;, &lt;context&gt;, &lt;constraints&gt;, &lt;</a:t>
            </a:r>
            <a:r>
              <a:rPr dirty="0" err="1"/>
              <a:t>output_format</a:t>
            </a:r>
            <a:r>
              <a:rPr dirty="0"/>
              <a:t>&gt;</a:t>
            </a:r>
          </a:p>
          <a:p>
            <a:pPr marL="365760" indent="-182880" algn="l">
              <a:buChar char="•"/>
            </a:pPr>
            <a:r>
              <a:rPr dirty="0"/>
              <a:t>Code-Level: "Write a function that..." → Implementation focus</a:t>
            </a:r>
          </a:p>
          <a:p>
            <a:pPr marL="365760" indent="-182880" algn="l">
              <a:buChar char="•"/>
            </a:pPr>
            <a:r>
              <a:rPr dirty="0"/>
              <a:t>Abstract: "I need to transform X into Y" → Intent focus</a:t>
            </a:r>
          </a:p>
          <a:p>
            <a:pPr marL="365760" indent="-182880" algn="l">
              <a:buChar char="•"/>
            </a:pPr>
            <a:r>
              <a:rPr dirty="0"/>
              <a:t>"It's like I was driving a race car in first gear."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7C100-7A96-C8B9-5334-4D2275770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88" y="1510234"/>
            <a:ext cx="4991912" cy="3509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updates compound over 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Session 1: Write CLAUDE.md with basic project context</a:t>
            </a:r>
          </a:p>
          <a:p>
            <a:pPr marL="731520" lvl="1" indent="-182880" algn="l">
              <a:buChar char="•"/>
            </a:pPr>
            <a:r>
              <a:t>Session 5: Add common commands, conventions, warnings</a:t>
            </a:r>
          </a:p>
          <a:p>
            <a:pPr marL="731520" lvl="1" indent="-182880" algn="l">
              <a:buChar char="•"/>
            </a:pPr>
            <a:r>
              <a:t>Session 20: Refined skills, custom hooks, team patterns</a:t>
            </a:r>
          </a:p>
          <a:p>
            <a:pPr marL="731520" lvl="1" indent="-182880" algn="l">
              <a:buChar char="•"/>
            </a:pPr>
            <a:r>
              <a:t>Session 100: Agent works like a trained team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A diagram of a compound efficiency&#10;&#10;AI-generated content may be incorrect.">
            <a:extLst>
              <a:ext uri="{FF2B5EF4-FFF2-40B4-BE49-F238E27FC236}">
                <a16:creationId xmlns:a16="http://schemas.microsoft.com/office/drawing/2014/main" id="{01C2D70E-3F9A-5EF7-7F0C-45F4A38D6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994" y="3057107"/>
            <a:ext cx="4984006" cy="3322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is a general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February 2025: Launch as CLI research preview</a:t>
            </a:r>
          </a:p>
          <a:p>
            <a:pPr marL="365760" indent="-182880" algn="l">
              <a:buChar char="•"/>
            </a:pPr>
            <a:r>
              <a:t>October 2025: Web launch on claude.ai</a:t>
            </a:r>
          </a:p>
          <a:p>
            <a:pPr marL="365760" indent="-182880" algn="l">
              <a:buChar char="•"/>
            </a:pPr>
            <a:r>
              <a:t>November 2025: $1B revenue run-rate</a:t>
            </a:r>
          </a:p>
          <a:p>
            <a:pPr marL="365760" indent="-182880" algn="l">
              <a:buChar char="•"/>
            </a:pPr>
            <a:r>
              <a:t>January 2026: Multi-agent infrastructure (v2.1.0)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 automates anything you can type.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File system access (read, write, edit)</a:t>
            </a:r>
          </a:p>
          <a:p>
            <a:pPr marL="365760" indent="-182880" algn="l">
              <a:buChar char="•"/>
            </a:pPr>
            <a:r>
              <a:t>Command execution (shell access)</a:t>
            </a:r>
          </a:p>
          <a:p>
            <a:pPr marL="365760" indent="-182880" algn="l">
              <a:buChar char="•"/>
            </a:pPr>
            <a:r>
              <a:t>Context awareness (understands project structure)</a:t>
            </a:r>
          </a:p>
          <a:p>
            <a:pPr marL="365760" indent="-182880" algn="l">
              <a:buChar char="•"/>
            </a:pPr>
            <a:r>
              <a:t>Autonomous operation (minimal supervision)</a:t>
            </a:r>
          </a:p>
          <a:p>
            <a:pPr marL="365760" indent="-182880" algn="l">
              <a:buChar char="•"/>
            </a:pPr>
            <a:r>
              <a:t>"Agents are tools in a loop" — Simon Willison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 is an LLM with filesystem access.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Web Chatbot: Stateless conversations, copy-paste snippets</a:t>
            </a:r>
          </a:p>
          <a:p>
            <a:pPr marL="365760" indent="-182880" algn="l">
              <a:buChar char="•"/>
            </a:pPr>
            <a:r>
              <a:t>Claude Code: Persistent filesystem access, direct file read/write</a:t>
            </a:r>
          </a:p>
          <a:p>
            <a:pPr marL="365760" indent="-182880" algn="l">
              <a:buChar char="•"/>
            </a:pPr>
            <a:r>
              <a:t>Web Chatbot: Describe your environment, human executes commands</a:t>
            </a:r>
          </a:p>
          <a:p>
            <a:pPr marL="365760" indent="-182880" algn="l">
              <a:buChar char="•"/>
            </a:pPr>
            <a:r>
              <a:t>Claude Code: Agent explores and executes autonomously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Its power comes from simplicity.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No heavyweight protocols needed</a:t>
            </a:r>
          </a:p>
          <a:p>
            <a:pPr marL="365760" indent="-182880" algn="l">
              <a:buChar char="•"/>
            </a:pPr>
            <a:r>
              <a:t>Skills are just markdown files the agent reads</a:t>
            </a:r>
          </a:p>
          <a:p>
            <a:pPr marL="365760" indent="-182880" algn="l">
              <a:buChar char="•"/>
            </a:pPr>
            <a:r>
              <a:t>Four tools (read, write, edit, bash) outperform complex ecosystems</a:t>
            </a:r>
          </a:p>
          <a:p>
            <a:pPr marL="365760" indent="-182880" algn="l">
              <a:buChar char="•"/>
            </a:pPr>
            <a:r>
              <a:t>Outsources hard parts to the LLM harness and computer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2: Context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The fundamental constraint and how to work around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O(N²) complexity creates hard limits.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Attention mechanism scales quadratically with sequence length</a:t>
            </a:r>
          </a:p>
          <a:p>
            <a:pPr marL="365760" indent="-182880" algn="l">
              <a:buChar char="•"/>
            </a:pPr>
            <a:r>
              <a:t>Context window is a hard limit on what the model can "see"</a:t>
            </a:r>
          </a:p>
          <a:p>
            <a:pPr marL="365760" indent="-182880" algn="l">
              <a:buChar char="•"/>
            </a:pPr>
            <a:r>
              <a:t>Everything the model knows about your task must fit in this window</a:t>
            </a:r>
          </a:p>
          <a:p>
            <a:pPr marL="365760" indent="-182880" algn="l">
              <a:buChar char="•"/>
            </a:pPr>
            <a:r>
              <a:t>Wasted tokens = reduced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Context engineering is the key skill.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Minimal system prompts: &lt;1,000 tokens vs competitors' 10,000+</a:t>
            </a:r>
          </a:p>
          <a:p>
            <a:pPr marL="365760" indent="-182880" algn="l">
              <a:buChar char="•"/>
            </a:pPr>
            <a:r>
              <a:t>File-based planning: External markdown preserves info across sessions</a:t>
            </a:r>
          </a:p>
          <a:p>
            <a:pPr marL="365760" indent="-182880" algn="l">
              <a:buChar char="•"/>
            </a:pPr>
            <a:r>
              <a:t>Progressive disclosure: Load tool docs only when needed</a:t>
            </a:r>
          </a:p>
          <a:p>
            <a:pPr marL="365760" indent="-182880" algn="l">
              <a:buChar char="•"/>
            </a:pPr>
            <a:r>
              <a:t>Pre-session artifacts: Research sessions → implementation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monitors context in real-time.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741644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Current session: percentage of context window used</a:t>
            </a:r>
          </a:p>
          <a:p>
            <a:pPr marL="365760" indent="-182880" algn="l">
              <a:buChar char="•"/>
            </a:pPr>
            <a:r>
              <a:rPr dirty="0"/>
              <a:t>Session reset: when the 5-hour window resets</a:t>
            </a:r>
          </a:p>
          <a:p>
            <a:pPr marL="365760" indent="-182880" algn="l">
              <a:buChar char="•"/>
            </a:pPr>
            <a:r>
              <a:rPr dirty="0"/>
              <a:t>Weekly usage across Opus and Sonnet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B82B2-707C-CD34-E2F9-85AB2C00C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96" y="1510234"/>
            <a:ext cx="4886404" cy="45943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Subagents spawn fresh context windows.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Each subagent gets its own fresh context window</a:t>
            </a:r>
          </a:p>
          <a:p>
            <a:pPr marL="365760" indent="-182880" algn="l">
              <a:buChar char="•"/>
            </a:pPr>
            <a:r>
              <a:t>Example: 36 files ÷ 3 subagents = 12 files each</a:t>
            </a:r>
          </a:p>
          <a:p>
            <a:pPr marL="365760" indent="-182880" algn="l">
              <a:buChar char="•"/>
            </a:pPr>
            <a:r>
              <a:t>Prevents main agent from sequential overload</a:t>
            </a:r>
          </a:p>
          <a:p>
            <a:pPr marL="365760" indent="-182880" algn="l">
              <a:buChar char="•"/>
            </a:pPr>
            <a:r>
              <a:t>Enables parallel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Agentic patterns have emerged.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253045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Context &amp; Memory: Context-minimization, dynamic injection</a:t>
            </a:r>
          </a:p>
          <a:p>
            <a:pPr marL="365760" indent="-182880" algn="l">
              <a:buChar char="•"/>
            </a:pPr>
            <a:r>
              <a:rPr dirty="0"/>
              <a:t>Feedback Loops: Self-critique, reflection, spec-as-test</a:t>
            </a:r>
          </a:p>
          <a:p>
            <a:pPr marL="365760" indent="-182880" algn="l">
              <a:buChar char="•"/>
            </a:pPr>
            <a:r>
              <a:rPr dirty="0"/>
              <a:t>Orchestration: Plan-then-execute, phase separation</a:t>
            </a:r>
          </a:p>
          <a:p>
            <a:pPr marL="365760" indent="-182880" algn="l">
              <a:buChar char="•"/>
            </a:pPr>
            <a:r>
              <a:rPr dirty="0"/>
              <a:t>Tool Use: CLI-first, code-over-API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Skills are markdown with instructions.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Just markdown files with YAML metadata</a:t>
            </a:r>
          </a:p>
          <a:p>
            <a:pPr marL="365760" indent="-182880" algn="l">
              <a:buChar char="•"/>
            </a:pPr>
            <a:r>
              <a:t>Brief summaries scanned before full load</a:t>
            </a:r>
          </a:p>
          <a:p>
            <a:pPr marL="365760" indent="-182880" algn="l">
              <a:buChar char="•"/>
            </a:pPr>
            <a:r>
              <a:t>Shareable across models and tools</a:t>
            </a:r>
          </a:p>
          <a:p>
            <a:pPr marL="365760" indent="-182880" algn="l">
              <a:buChar char="•"/>
            </a:pPr>
            <a:r>
              <a:t>No heavyweight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140+ scientific skills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28+ Scientific databases (OpenAlex, PubMed, ChEMBL, UniProt)</a:t>
            </a:r>
          </a:p>
          <a:p>
            <a:pPr marL="365760" indent="-182880" algn="l">
              <a:buChar char="•"/>
            </a:pPr>
            <a:r>
              <a:t>55+ Python packages (RDKit, Scanpy, PyTorch)</a:t>
            </a:r>
          </a:p>
          <a:p>
            <a:pPr marL="365760" indent="-182880" algn="l">
              <a:buChar char="•"/>
            </a:pPr>
            <a:r>
              <a:t>15+ Scientific integrations (Benchling, DNAnexus)</a:t>
            </a:r>
          </a:p>
          <a:p>
            <a:pPr marL="365760" indent="-182880" algn="l">
              <a:buChar char="•"/>
            </a:pPr>
            <a:r>
              <a:t>Categories: Bioinformatics, Cheminformatics, Clinical Research, ML/AI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can waste 7-9% of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Anti-MCP: Tools you never use still consume tokens</a:t>
            </a:r>
          </a:p>
          <a:p>
            <a:pPr marL="731520" lvl="1" indent="-182880" algn="l">
              <a:buChar char="•"/>
            </a:pPr>
            <a:r>
              <a:t>Alternative: CLI tools with README loaded on-demand</a:t>
            </a:r>
          </a:p>
          <a:p>
            <a:pPr marL="365760" indent="-182880" algn="l">
              <a:buChar char="•"/>
            </a:pPr>
            <a:r>
              <a:t>Pro-MCP: Convenience of always-available tools</a:t>
            </a:r>
          </a:p>
          <a:p>
            <a:pPr marL="365760" indent="-182880" algn="l">
              <a:buChar char="•"/>
            </a:pPr>
            <a:r>
              <a:t>Trade-off: Convenience vs. context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Git worktree enables parallel sessions.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635603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git </a:t>
            </a:r>
            <a:r>
              <a:rPr dirty="0" err="1"/>
              <a:t>worktree</a:t>
            </a:r>
            <a:r>
              <a:rPr dirty="0"/>
              <a:t> add ../feature-auth feature/auth</a:t>
            </a:r>
          </a:p>
          <a:p>
            <a:pPr marL="365760" indent="-182880" algn="l">
              <a:buChar char="•"/>
            </a:pPr>
            <a:r>
              <a:rPr dirty="0"/>
              <a:t>Run Claude Code in each </a:t>
            </a:r>
            <a:r>
              <a:rPr dirty="0" err="1"/>
              <a:t>worktree</a:t>
            </a:r>
            <a:r>
              <a:rPr dirty="0"/>
              <a:t> (separate terminals)</a:t>
            </a:r>
          </a:p>
          <a:p>
            <a:pPr marL="365760" indent="-182880" algn="l">
              <a:buChar char="•"/>
            </a:pPr>
            <a:r>
              <a:rPr dirty="0"/>
              <a:t>Single Session: Sequential task completion, one context</a:t>
            </a:r>
          </a:p>
          <a:p>
            <a:pPr marL="365760" indent="-182880" algn="l">
              <a:buChar char="•"/>
            </a:pPr>
            <a:r>
              <a:rPr dirty="0"/>
              <a:t>Parallel Sessions: Simultaneous progress, multiple fresh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E2471-4403-1844-8904-8FAAA497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203" y="1193647"/>
            <a:ext cx="4542798" cy="53205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Parallelization multiplies efficiency.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Workflow Design: Define what agents should do</a:t>
            </a:r>
          </a:p>
          <a:p>
            <a:pPr marL="365760" indent="-182880" algn="l">
              <a:buChar char="•"/>
            </a:pPr>
            <a:r>
              <a:t>2. Context Engineering: Optimize what agents can see</a:t>
            </a:r>
          </a:p>
          <a:p>
            <a:pPr marL="365760" indent="-182880" algn="l">
              <a:buChar char="•"/>
            </a:pPr>
            <a:r>
              <a:t>3. Parallelization: Scale by running multiple agents</a:t>
            </a:r>
          </a:p>
          <a:p>
            <a:pPr marL="365760" indent="-182880" algn="l">
              <a:buChar char="•"/>
            </a:pPr>
            <a:r>
              <a:t>Boris Cherny (Claude Code creator) runs 5 Claudes in parallel!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3: 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Installation, configuration, and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One npm install gets you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npm install -g @anthropic-ai/claude-code</a:t>
            </a:r>
          </a:p>
          <a:p>
            <a:pPr marL="365760" indent="-182880" algn="l">
              <a:buChar char="•"/>
            </a:pPr>
            <a:r>
              <a:t>claude --version</a:t>
            </a:r>
          </a:p>
          <a:p>
            <a:pPr marL="365760" indent="-182880" algn="l">
              <a:buChar char="•"/>
            </a:pPr>
            <a:r>
              <a:t>cd your-project &amp;&amp; claude</a:t>
            </a:r>
          </a:p>
          <a:p>
            <a:pPr marL="365760" indent="-182880" algn="l">
              <a:buChar char="•"/>
            </a:pPr>
            <a:r>
              <a:t>First run: authenticate, create ~/.claude/, optionally run /init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Plans range from $20 to $200/month.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Pro ($20/month): Light usage, small repos</a:t>
            </a:r>
          </a:p>
          <a:p>
            <a:pPr marL="365760" indent="-182880" algn="l">
              <a:buChar char="•"/>
            </a:pPr>
            <a:r>
              <a:t>Max 5x ($100/month): Moderate usage, larger repos</a:t>
            </a:r>
          </a:p>
          <a:p>
            <a:pPr marL="365760" indent="-182880" algn="l">
              <a:buChar char="•"/>
            </a:pPr>
            <a:r>
              <a:t>Max 20x ($200/month): Heavy usage, complex projects</a:t>
            </a:r>
          </a:p>
          <a:p>
            <a:pPr marL="365760" indent="-182880" algn="l">
              <a:buChar char="•"/>
            </a:pPr>
            <a:r>
              <a:t>Usage shared across Claude web, desktop,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statusline shows real-time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model.display_name: Current model</a:t>
            </a:r>
          </a:p>
          <a:p>
            <a:pPr marL="365760" indent="-182880" algn="l">
              <a:buChar char="•"/>
            </a:pPr>
            <a:r>
              <a:t>tokens.input / tokens.output: Token counts</a:t>
            </a:r>
          </a:p>
          <a:p>
            <a:pPr marL="365760" indent="-182880" algn="l">
              <a:buChar char="•"/>
            </a:pPr>
            <a:r>
              <a:t>cost.current / cost.total: Cost tracking</a:t>
            </a:r>
          </a:p>
          <a:p>
            <a:pPr marL="365760" indent="-182880" algn="l">
              <a:buChar char="•"/>
            </a:pPr>
            <a:r>
              <a:t>Setup: /statusline show the model name and context usage percentage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shows session info and usage.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86032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Status tab: Version, session ID, model, MCP servers, memory</a:t>
            </a:r>
          </a:p>
          <a:p>
            <a:pPr marL="365760" indent="-182880" algn="l">
              <a:buChar char="•"/>
            </a:pPr>
            <a:r>
              <a:rPr dirty="0"/>
              <a:t>Config tab: Preferences, theme, checkpoints</a:t>
            </a:r>
          </a:p>
          <a:p>
            <a:pPr marL="365760" indent="-182880" algn="l">
              <a:buChar char="•"/>
            </a:pPr>
            <a:r>
              <a:rPr dirty="0"/>
              <a:t>Usage tab: Context percentage, weekly limits</a:t>
            </a:r>
          </a:p>
          <a:p>
            <a:pPr marL="365760" indent="-182880" algn="l">
              <a:buChar char="•"/>
            </a:pPr>
            <a:r>
              <a:rPr dirty="0"/>
              <a:t>[Figure: status-tab-</a:t>
            </a:r>
            <a:r>
              <a:rPr dirty="0" err="1"/>
              <a:t>status.png</a:t>
            </a:r>
            <a:r>
              <a:rPr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5637F-134B-2D2B-1E0D-BC9237429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46" y="1584835"/>
            <a:ext cx="5843454" cy="46482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provides persistent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# Project Name → ## Tech Stack → ## Commands → ## Conventions</a:t>
            </a:r>
          </a:p>
          <a:p>
            <a:pPr marL="365760" indent="-182880" algn="l">
              <a:buChar char="•"/>
            </a:pPr>
            <a:r>
              <a:t>Hierarchy: ~/.claude/ → parent → project → subdirectory</a:t>
            </a:r>
          </a:p>
          <a:p>
            <a:pPr marL="365760" indent="-182880" algn="l">
              <a:buChar char="•"/>
            </a:pPr>
            <a:r>
              <a:t>The /init command generates a starter file</a:t>
            </a:r>
          </a:p>
          <a:p>
            <a:pPr marL="365760" indent="-182880" algn="l">
              <a:buChar char="•"/>
            </a:pPr>
            <a:r>
              <a:t>Updates compound over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Four permission modes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default: Prompts for first use of each tool</a:t>
            </a:r>
          </a:p>
          <a:p>
            <a:pPr marL="365760" indent="-182880" algn="l">
              <a:buChar char="•"/>
            </a:pPr>
            <a:r>
              <a:t>acceptEdits: Auto-accepts file edits for session</a:t>
            </a:r>
          </a:p>
          <a:p>
            <a:pPr marL="365760" indent="-182880" algn="l">
              <a:buChar char="•"/>
            </a:pPr>
            <a:r>
              <a:t>plan: Read-only analysis, no modifications</a:t>
            </a:r>
          </a:p>
          <a:p>
            <a:pPr marL="365760" indent="-182880" algn="l">
              <a:buChar char="•"/>
            </a:pPr>
            <a:r>
              <a:t>bypassPermissions: Skips all prompts (safe environment only)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Granular rules provide fine control.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allow: ["Bash(npm run test:*)", "Bash(git:*)"]</a:t>
            </a:r>
          </a:p>
          <a:p>
            <a:pPr marL="365760" indent="-182880" algn="l">
              <a:buChar char="•"/>
            </a:pPr>
            <a:r>
              <a:t>deny: ["Read(./.env)", "Read(**/*.key)"]</a:t>
            </a:r>
          </a:p>
          <a:p>
            <a:pPr marL="365760" indent="-182880" algn="l">
              <a:buChar char="•"/>
            </a:pPr>
            <a:r>
              <a:t>ask: ["Bash(git push:*)", "Bash(rm:*)"]</a:t>
            </a:r>
          </a:p>
          <a:p>
            <a:pPr marL="365760" indent="-182880" algn="l">
              <a:buChar char="•"/>
            </a:pPr>
            <a:r>
              <a:t>Evaluation order: deny → allow → 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Hooks run scripts on tool events.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PreToolUse: Run validation before tool executes</a:t>
            </a:r>
          </a:p>
          <a:p>
            <a:pPr marL="365760" indent="-182880" algn="l">
              <a:buChar char="•"/>
            </a:pPr>
            <a:r>
              <a:t>PostToolUse: Process results after tool completes</a:t>
            </a:r>
          </a:p>
          <a:p>
            <a:pPr marL="365760" indent="-182880" algn="l">
              <a:buChar char="•"/>
            </a:pPr>
            <a:r>
              <a:t>PermissionRequest: Custom permission logic</a:t>
            </a:r>
          </a:p>
          <a:p>
            <a:pPr marL="365760" indent="-182880" algn="l">
              <a:buChar char="•"/>
            </a:pPr>
            <a:r>
              <a:t>Can block, modify, or auto-approve based on custom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Three elements create security risk.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Access to private data (env vars, credentials)</a:t>
            </a:r>
          </a:p>
          <a:p>
            <a:pPr marL="365760" indent="-182880" algn="l">
              <a:buChar char="•"/>
            </a:pPr>
            <a:r>
              <a:t>2. Exposure to untrusted content (web pages, user input)</a:t>
            </a:r>
          </a:p>
          <a:p>
            <a:pPr marL="365760" indent="-182880" algn="l">
              <a:buChar char="•"/>
            </a:pPr>
            <a:r>
              <a:t>3. External communication ability (network access)</a:t>
            </a:r>
          </a:p>
          <a:p>
            <a:pPr marL="365760" indent="-182880" algn="l">
              <a:buChar char="•"/>
            </a:pPr>
            <a:r>
              <a:t>AI cannot reliably detect prompt injection—architecture must prevent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4: Cursor vs Alternatives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Comparing tools for different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Cursor is an assistant; Claude Code is an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Cursor: Enhanced IDE, GUI (VS Code fork), User-selectable model</a:t>
            </a:r>
          </a:p>
          <a:p>
            <a:pPr marL="365760" indent="-182880" algn="l">
              <a:buChar char="•"/>
            </a:pPr>
            <a:r>
              <a:t>Claude Code: Autonomous Agent, CLI/Terminal, Claude (optimized)</a:t>
            </a:r>
          </a:p>
          <a:p>
            <a:pPr marL="365760" indent="-182880" algn="l">
              <a:buChar char="•"/>
            </a:pPr>
            <a:r>
              <a:t>Cursor: User-initiated execution, IDE-provided context</a:t>
            </a:r>
          </a:p>
          <a:p>
            <a:pPr marL="365760" indent="-182880" algn="l">
              <a:buChar char="•"/>
            </a:pPr>
            <a:r>
              <a:t>Claude Code: Autonomous execution, Full filesystem + 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Choose based on how you think.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 excels at: Quick inline edits, code explanation, GUI preference</a:t>
            </a:r>
          </a:p>
          <a:p>
            <a:pPr marL="365760" indent="-182880" algn="l">
              <a:buChar char="•"/>
            </a:pPr>
            <a:r>
              <a:t>Claude Code excels at: Multi-file refactoring, autonomous tasks</a:t>
            </a:r>
          </a:p>
          <a:p>
            <a:pPr marL="365760" indent="-182880" algn="l">
              <a:buChar char="•"/>
            </a:pPr>
            <a:r>
              <a:t>Claude Code excels at: Pipeline automation, shell access tasks</a:t>
            </a:r>
          </a:p>
          <a:p>
            <a:pPr marL="365760" indent="-182880" algn="l">
              <a:buChar char="•"/>
            </a:pPr>
            <a:r>
              <a:t>Many developers use both for different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Alternatives offer different trade-offs.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OpenCode: 75+ providers, free — Best for budget, model flexibility</a:t>
            </a:r>
          </a:p>
          <a:p>
            <a:pPr marL="365760" indent="-182880" algn="l">
              <a:buChar char="•"/>
            </a:pPr>
            <a:r>
              <a:t>Aider: Code graph, git integration — Best for monorepos, explicit control</a:t>
            </a:r>
          </a:p>
          <a:p>
            <a:pPr marL="365760" indent="-182880" algn="l">
              <a:buChar char="•"/>
            </a:pPr>
            <a:r>
              <a:t>Gemini CLI: 1M context, free tier — Best for Google Cloud, docs tasks</a:t>
            </a:r>
          </a:p>
          <a:p>
            <a:pPr marL="365760" indent="-182880" algn="l">
              <a:buChar char="•"/>
            </a:pPr>
            <a:r>
              <a:t>Codex CLI: GitHub Actions — Best for CI/CD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leads SWE-bench at 80.9%.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+ Opus 4.5: 80.9%</a:t>
            </a:r>
          </a:p>
          <a:p>
            <a:pPr marL="365760" indent="-182880" algn="l">
              <a:buChar char="•"/>
            </a:pPr>
            <a:r>
              <a:t>Aider: 67%</a:t>
            </a:r>
          </a:p>
          <a:p>
            <a:pPr marL="365760" indent="-182880" algn="l">
              <a:buChar char="•"/>
            </a:pPr>
            <a:r>
              <a:t>Cline: 63%</a:t>
            </a:r>
          </a:p>
          <a:p>
            <a:pPr marL="365760" indent="-182880" algn="l">
              <a:buChar char="•"/>
            </a:pPr>
            <a:r>
              <a:t>Gemini 2.5 Pro: 63.8%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5: Demo &amp; 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Live demonstration and what's coming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This presentation demonstrates the workflow.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CLAUDE.md (instructions) → scratch/SCRATCH.md (raw notes)</a:t>
            </a:r>
          </a:p>
          <a:p>
            <a:pPr marL="365760" indent="-182880" algn="l">
              <a:buChar char="•"/>
            </a:pPr>
            <a:r>
              <a:t>→ docs/topics/*.md (organized knowledge)</a:t>
            </a:r>
          </a:p>
          <a:p>
            <a:pPr marL="365760" indent="-182880" algn="l">
              <a:buChar char="•"/>
            </a:pPr>
            <a:r>
              <a:t>→ docs/NARRATIVE.md → docs/PRESENTATION.md</a:t>
            </a:r>
          </a:p>
          <a:p>
            <a:pPr marL="365760" indent="-182880" algn="l">
              <a:buChar char="•"/>
            </a:pPr>
            <a:r>
              <a:t>→ *.pptx (Skills-generated 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Commits document the collaboration.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Initial scaffolding</a:t>
            </a:r>
          </a:p>
          <a:p>
            <a:pPr marL="365760" indent="-182880" algn="l">
              <a:buChar char="•"/>
            </a:pPr>
            <a:r>
              <a:t>Phase 1: Research compilation</a:t>
            </a:r>
          </a:p>
          <a:p>
            <a:pPr marL="365760" indent="-182880" algn="l">
              <a:buChar char="•"/>
            </a:pPr>
            <a:r>
              <a:t>Additional research: permissions, alternatives</a:t>
            </a:r>
          </a:p>
          <a:p>
            <a:pPr marL="365760" indent="-182880" algn="l">
              <a:buChar char="•"/>
            </a:pPr>
            <a:r>
              <a:t>Narrative structure → Slide outline → PPTX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Let us see Claude Code in action.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Show /status, /statusline commands</a:t>
            </a:r>
          </a:p>
          <a:p>
            <a:pPr marL="365760" indent="-182880" algn="l">
              <a:buChar char="•"/>
            </a:pPr>
            <a:r>
              <a:t>Install a skill via /plugin</a:t>
            </a:r>
          </a:p>
          <a:p>
            <a:pPr marL="365760" indent="-182880" algn="l">
              <a:buChar char="•"/>
            </a:pPr>
            <a:r>
              <a:t>Run /init on a sample project</a:t>
            </a:r>
          </a:p>
          <a:p>
            <a:pPr marL="365760" indent="-182880" algn="l">
              <a:buChar char="•"/>
            </a:pPr>
            <a:r>
              <a:t>Simple code modification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Ralph-Wiggum treats failure as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14851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A simple while loop that feeds an AI agent a prompt until completion</a:t>
            </a:r>
          </a:p>
          <a:p>
            <a:pPr marL="365760" indent="-182880" algn="l">
              <a:buChar char="•"/>
            </a:pPr>
            <a:r>
              <a:rPr dirty="0"/>
              <a:t>Deterministic stopping criteria (not "try once and fail")</a:t>
            </a:r>
          </a:p>
          <a:p>
            <a:pPr marL="365760" indent="-182880" algn="l">
              <a:buChar char="•"/>
            </a:pPr>
            <a:r>
              <a:rPr dirty="0"/>
              <a:t>Failure-as-data philosophy: setbacks guide refinement</a:t>
            </a:r>
          </a:p>
          <a:p>
            <a:pPr marL="365760" indent="-182880" algn="l">
              <a:buChar char="•"/>
            </a:pPr>
            <a:r>
              <a:rPr dirty="0"/>
              <a:t>Emerging: Overnight automation, parallel loops, BMAD-METHOD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71B7C-828A-DCDE-980D-20C1FE28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279" y="1510234"/>
            <a:ext cx="5975721" cy="347237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future is here—adoption is key.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Write code myself → New: Design workflows that write code</a:t>
            </a:r>
          </a:p>
          <a:p>
            <a:pPr marL="365760" indent="-182880" algn="l">
              <a:buChar char="•"/>
            </a:pPr>
            <a:r>
              <a:t>Old: One-shot prompts → New: Iterative loops until done</a:t>
            </a:r>
          </a:p>
          <a:p>
            <a:pPr marL="365760" indent="-182880" algn="l">
              <a:buChar char="•"/>
            </a:pPr>
            <a:r>
              <a:t>Old: Static instructions → New: Continuously improved artifacts</a:t>
            </a:r>
          </a:p>
          <a:p>
            <a:pPr marL="365760" indent="-182880" algn="l">
              <a:buChar char="•"/>
            </a:pPr>
            <a:r>
              <a:t>Start with CLAUDE.md on one project, refine over 5-10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the key takeaways.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= LLM + filesystem access = general agent</a:t>
            </a:r>
          </a:p>
          <a:p>
            <a:pPr marL="365760" indent="-182880" algn="l">
              <a:buChar char="•"/>
            </a:pPr>
            <a:r>
              <a:t>Workflows compound—every CLAUDE.md update makes the system smarter</a:t>
            </a:r>
          </a:p>
          <a:p>
            <a:pPr marL="365760" indent="-182880" algn="l">
              <a:buChar char="•"/>
            </a:pPr>
            <a:r>
              <a:t>Context engineering is the fundamental skill</a:t>
            </a:r>
          </a:p>
          <a:p>
            <a:pPr marL="365760" indent="-182880" algn="l">
              <a:buChar char="•"/>
            </a:pPr>
            <a:r>
              <a:t>Parallelization via git worktree multiplies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resources to get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Official: code.claude.com/docs</a:t>
            </a:r>
          </a:p>
          <a:p>
            <a:pPr marL="365760" indent="-182880" algn="l">
              <a:buChar char="•"/>
            </a:pPr>
            <a:r>
              <a:t>Course: DeepLearning.ai Claude Code course</a:t>
            </a:r>
          </a:p>
          <a:p>
            <a:pPr marL="365760" indent="-182880" algn="l">
              <a:buChar char="•"/>
            </a:pPr>
            <a:r>
              <a:t>Skills: github.com/anthropics/skills</a:t>
            </a:r>
          </a:p>
          <a:p>
            <a:pPr marL="365760" indent="-182880" algn="l">
              <a:buChar char="•"/>
            </a:pPr>
            <a:r>
              <a:t>Scientific: K-Dense-AI/claude-scientific-skills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How might this change our team's workflows?</a:t>
            </a:r>
          </a:p>
          <a:p>
            <a:pPr marL="365760" indent="-182880" algn="l">
              <a:buChar char="•"/>
            </a:pPr>
            <a:r>
              <a:t>What tasks would benefit most from agent automation?</a:t>
            </a:r>
          </a:p>
          <a:p>
            <a:pPr marL="365760" indent="-182880" algn="l">
              <a:buChar char="•"/>
            </a:pPr>
            <a:r>
              <a:t>Security considerations for our environment</a:t>
            </a:r>
          </a:p>
          <a:p>
            <a:pPr marL="365760" indent="-182880" algn="l">
              <a:buChar char="•"/>
            </a:pPr>
            <a:r>
              <a:t>Skill development for our specific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uses only four core tools.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Read: File contents, images, PDFs</a:t>
            </a:r>
          </a:p>
          <a:p>
            <a:pPr marL="365760" indent="-182880" algn="l">
              <a:buChar char="•"/>
            </a:pPr>
            <a:r>
              <a:t>Write: Create new files</a:t>
            </a:r>
          </a:p>
          <a:p>
            <a:pPr marL="365760" indent="-182880" algn="l">
              <a:buChar char="•"/>
            </a:pPr>
            <a:r>
              <a:t>Edit: String replacement in files</a:t>
            </a:r>
          </a:p>
          <a:p>
            <a:pPr marL="365760" indent="-182880" algn="l">
              <a:buChar char="•"/>
            </a:pPr>
            <a:r>
              <a:t>Bash: Shell command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servers extend capabilities.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/plugin install @anthropic-ai/mcp-server-github</a:t>
            </a:r>
          </a:p>
          <a:p>
            <a:pPr marL="365760" indent="-182880" algn="l">
              <a:buChar char="•"/>
            </a:pPr>
            <a:r>
              <a:t>/plugin install @anthropic-ai/mcp-server-context7</a:t>
            </a:r>
          </a:p>
          <a:p>
            <a:pPr marL="365760" indent="-182880" algn="l">
              <a:buChar char="•"/>
            </a:pPr>
            <a:r>
              <a:t>Available servers: GitHub, databases, APIs</a:t>
            </a:r>
          </a:p>
          <a:p>
            <a:pPr marL="365760" indent="-182880" algn="l">
              <a:buChar char="•"/>
            </a:pPr>
            <a:r>
              <a:t>Trade-off: Convenience vs. context window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Gemini CLI offers 1M token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 million token context window</a:t>
            </a:r>
          </a:p>
          <a:p>
            <a:pPr marL="365760" indent="-182880" algn="l">
              <a:buChar char="•"/>
            </a:pPr>
            <a:r>
              <a:t>60 requests/minute, 1000/day (free)</a:t>
            </a:r>
          </a:p>
          <a:p>
            <a:pPr marL="365760" indent="-182880" algn="l">
              <a:buChar char="•"/>
            </a:pPr>
            <a:r>
              <a:t>Deep Google Cloud integration</a:t>
            </a:r>
          </a:p>
          <a:p>
            <a:pPr marL="365760" indent="-182880" algn="l">
              <a:buChar char="•"/>
            </a:pPr>
            <a:r>
              <a:t>Lower SWE-bench scores than Claude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1971</Words>
  <Application>Microsoft Macintosh PowerPoint</Application>
  <PresentationFormat>Widescreen</PresentationFormat>
  <Paragraphs>280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Helvetica</vt:lpstr>
      <vt:lpstr>Helvetica Neue</vt:lpstr>
      <vt:lpstr>Helvetica Neue Light</vt:lpstr>
      <vt:lpstr>Black</vt:lpstr>
      <vt:lpstr>Claude Code: From Coding to Workflow Design</vt:lpstr>
      <vt:lpstr>Agenda</vt:lpstr>
      <vt:lpstr>Section 1: The Paradigm Shift</vt:lpstr>
      <vt:lpstr>We are stuck in an old mental model.</vt:lpstr>
      <vt:lpstr>Engineers now design systems.</vt:lpstr>
      <vt:lpstr>You communicate intent to agents.</vt:lpstr>
      <vt:lpstr>CLAUDE.md updates compound over time.</vt:lpstr>
      <vt:lpstr>Claude Code is a general agent.</vt:lpstr>
      <vt:lpstr>It automates anything you can type.</vt:lpstr>
      <vt:lpstr>It is an LLM with filesystem access.</vt:lpstr>
      <vt:lpstr>Its power comes from simplicity.</vt:lpstr>
      <vt:lpstr>Section 2: Context Engineering</vt:lpstr>
      <vt:lpstr>O(N²) complexity creates hard limits.</vt:lpstr>
      <vt:lpstr>Context engineering is the key skill.</vt:lpstr>
      <vt:lpstr>/status monitors context in real-time.</vt:lpstr>
      <vt:lpstr>Subagents spawn fresh context windows.</vt:lpstr>
      <vt:lpstr>Agentic patterns have emerged.</vt:lpstr>
      <vt:lpstr>Skills are markdown with instructions.</vt:lpstr>
      <vt:lpstr>140+ scientific skills are available.</vt:lpstr>
      <vt:lpstr>MCP can waste 7-9% of context.</vt:lpstr>
      <vt:lpstr>Git worktree enables parallel sessions.</vt:lpstr>
      <vt:lpstr>Parallelization multiplies efficiency.</vt:lpstr>
      <vt:lpstr>Section 3: Getting Started</vt:lpstr>
      <vt:lpstr>One npm install gets you started.</vt:lpstr>
      <vt:lpstr>Plans range from $20 to $200/month.</vt:lpstr>
      <vt:lpstr>The statusline shows real-time data.</vt:lpstr>
      <vt:lpstr>/status shows session info and usage.</vt:lpstr>
      <vt:lpstr>CLAUDE.md provides persistent context.</vt:lpstr>
      <vt:lpstr>Four permission modes are available.</vt:lpstr>
      <vt:lpstr>Granular rules provide fine control.</vt:lpstr>
      <vt:lpstr>Hooks run scripts on tool events.</vt:lpstr>
      <vt:lpstr>Three elements create security risk.</vt:lpstr>
      <vt:lpstr>Section 4: Cursor vs Alternatives</vt:lpstr>
      <vt:lpstr>Cursor is an assistant; Claude Code is an agent.</vt:lpstr>
      <vt:lpstr>Choose based on how you think.</vt:lpstr>
      <vt:lpstr>Alternatives offer different trade-offs.</vt:lpstr>
      <vt:lpstr>Claude Code leads SWE-bench at 80.9%.</vt:lpstr>
      <vt:lpstr>Section 5: Demo &amp; Future</vt:lpstr>
      <vt:lpstr>This presentation demonstrates the workflow.</vt:lpstr>
      <vt:lpstr>Commits document the collaboration.</vt:lpstr>
      <vt:lpstr>Let us see Claude Code in action.</vt:lpstr>
      <vt:lpstr>Ralph-Wiggum treats failure as data.</vt:lpstr>
      <vt:lpstr>The future is here—adoption is key.</vt:lpstr>
      <vt:lpstr>Here are the key takeaways.</vt:lpstr>
      <vt:lpstr>Here are resources to get started.</vt:lpstr>
      <vt:lpstr>Questions?</vt:lpstr>
      <vt:lpstr>Claude Code uses only four core tools.</vt:lpstr>
      <vt:lpstr>MCP servers extend capabilities.</vt:lpstr>
      <vt:lpstr>Gemini CLI offers 1M token context.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25</cp:revision>
  <dcterms:modified xsi:type="dcterms:W3CDTF">2026-01-14T17:20:17Z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