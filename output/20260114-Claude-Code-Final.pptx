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343" r:id="rId5"/>
    <p:sldId id="344" r:id="rId6"/>
    <p:sldId id="351" r:id="rId20"/>
    <p:sldId id="352" r:id="rId21"/>
    <p:sldId id="353" r:id="rId22"/>
    <p:sldId id="354" r:id="rId23"/>
    <p:sldId id="355" r:id="rId24"/>
    <p:sldId id="356" r:id="rId25"/>
    <p:sldId id="357" r:id="rId26"/>
    <p:sldId id="358" r:id="rId27"/>
    <p:sldId id="359" r:id="rId28"/>
    <p:sldId id="360" r:id="rId29"/>
    <p:sldId id="361" r:id="rId30"/>
    <p:sldId id="362" r:id="rId31"/>
    <p:sldId id="363" r:id="rId32"/>
    <p:sldId id="364" r:id="rId33"/>
    <p:sldId id="365" r:id="rId34"/>
    <p:sldId id="366" r:id="rId35"/>
    <p:sldId id="367" r:id="rId36"/>
    <p:sldId id="368" r:id="rId37"/>
    <p:sldId id="369" r:id="rId38"/>
    <p:sldId id="370" r:id="rId39"/>
    <p:sldId id="371" r:id="rId40"/>
    <p:sldId id="372" r:id="rId41"/>
    <p:sldId id="373" r:id="rId42"/>
    <p:sldId id="374" r:id="rId43"/>
    <p:sldId id="375" r:id="rId44"/>
    <p:sldId id="376" r:id="rId45"/>
    <p:sldId id="377" r:id="rId46"/>
    <p:sldId id="378" r:id="rId47"/>
    <p:sldId id="379" r:id="rId48"/>
    <p:sldId id="380" r:id="rId49"/>
    <p:sldId id="381" r:id="rId50"/>
    <p:sldId id="382" r:id="rId51"/>
    <p:sldId id="383" r:id="rId52"/>
    <p:sldId id="384" r:id="rId53"/>
    <p:sldId id="385" r:id="rId54"/>
    <p:sldId id="386" r:id="rId55"/>
    <p:sldId id="387" r:id="rId56"/>
    <p:sldId id="388" r:id="rId57"/>
    <p:sldId id="389" r:id="rId58"/>
    <p:sldId id="390" r:id="rId59"/>
    <p:sldId id="391" r:id="rId60"/>
    <p:sldId id="392" r:id="rId61"/>
    <p:sldId id="393" r:id="rId62"/>
    <p:sldId id="394" r:id="rId63"/>
    <p:sldId id="395" r:id="rId64"/>
    <p:sldId id="396" r:id="rId65"/>
    <p:sldId id="397" r:id="rId66"/>
  </p:sldIdLst>
  <p:sldSz cx="12192000" cy="6858000"/>
  <p:notesSz cx="6858000" cy="9144000"/>
  <p:defaultTextStyle>
    <a:defPPr marL="0" marR="0" indent="0" algn="l" defTabSz="4572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12750" rtl="0" fontAlgn="auto" latinLnBrk="0" hangingPunct="0">
      <a:lnSpc>
        <a:spcPct val="100000"/>
      </a:lnSpc>
      <a:spcBef>
        <a:spcPts val="29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0" algn="l" defTabSz="412750" rtl="0" fontAlgn="auto" latinLnBrk="0" hangingPunct="0">
      <a:lnSpc>
        <a:spcPct val="100000"/>
      </a:lnSpc>
      <a:spcBef>
        <a:spcPts val="29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0" algn="l" defTabSz="412750" rtl="0" fontAlgn="auto" latinLnBrk="0" hangingPunct="0">
      <a:lnSpc>
        <a:spcPct val="100000"/>
      </a:lnSpc>
      <a:spcBef>
        <a:spcPts val="29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0" algn="l" defTabSz="412750" rtl="0" fontAlgn="auto" latinLnBrk="0" hangingPunct="0">
      <a:lnSpc>
        <a:spcPct val="100000"/>
      </a:lnSpc>
      <a:spcBef>
        <a:spcPts val="29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0" algn="l" defTabSz="412750" rtl="0" fontAlgn="auto" latinLnBrk="0" hangingPunct="0">
      <a:lnSpc>
        <a:spcPct val="100000"/>
      </a:lnSpc>
      <a:spcBef>
        <a:spcPts val="29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0" algn="l" defTabSz="412750" rtl="0" fontAlgn="auto" latinLnBrk="0" hangingPunct="0">
      <a:lnSpc>
        <a:spcPct val="100000"/>
      </a:lnSpc>
      <a:spcBef>
        <a:spcPts val="29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0" algn="l" defTabSz="412750" rtl="0" fontAlgn="auto" latinLnBrk="0" hangingPunct="0">
      <a:lnSpc>
        <a:spcPct val="100000"/>
      </a:lnSpc>
      <a:spcBef>
        <a:spcPts val="29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0" algn="l" defTabSz="412750" rtl="0" fontAlgn="auto" latinLnBrk="0" hangingPunct="0">
      <a:lnSpc>
        <a:spcPct val="100000"/>
      </a:lnSpc>
      <a:spcBef>
        <a:spcPts val="29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0" algn="l" defTabSz="412750" rtl="0" fontAlgn="auto" latinLnBrk="0" hangingPunct="0">
      <a:lnSpc>
        <a:spcPct val="100000"/>
      </a:lnSpc>
      <a:spcBef>
        <a:spcPts val="29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24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A4A3A4"/>
          </p15:clr>
        </p15:guide>
        <p15:guide id="4" orient="horz" pos="226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icha Breakstone" initials="MB" lastIdx="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F5B"/>
    <a:srgbClr val="001133"/>
    <a:srgbClr val="000308"/>
    <a:srgbClr val="001A4D"/>
    <a:srgbClr val="00205F"/>
    <a:srgbClr val="16E7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D6D6D6"/>
              </a:solidFill>
              <a:prstDash val="solid"/>
              <a:miter lim="400000"/>
            </a:ln>
          </a:left>
          <a:right>
            <a:ln w="254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254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6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rgbClr val="032650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6D6"/>
              </a:solidFill>
              <a:prstDash val="solid"/>
              <a:miter lim="400000"/>
            </a:ln>
          </a:top>
          <a:bottom>
            <a:ln w="254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rgbClr val="032650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929292"/>
              </a:solidFill>
              <a:prstDash val="solid"/>
              <a:miter lim="400000"/>
            </a:ln>
          </a:top>
          <a:bottom>
            <a:ln w="12700" cap="flat">
              <a:solidFill>
                <a:srgbClr val="929292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84E00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17101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AAAAA"/>
              </a:solidFill>
              <a:prstDash val="solid"/>
              <a:miter lim="400000"/>
            </a:ln>
          </a:left>
          <a:right>
            <a:ln w="12700" cap="flat">
              <a:solidFill>
                <a:srgbClr val="AAAAAA"/>
              </a:solidFill>
              <a:prstDash val="solid"/>
              <a:miter lim="400000"/>
            </a:ln>
          </a:right>
          <a:top>
            <a:ln w="12700" cap="flat">
              <a:solidFill>
                <a:srgbClr val="AAAAAA"/>
              </a:solidFill>
              <a:prstDash val="solid"/>
              <a:miter lim="400000"/>
            </a:ln>
          </a:top>
          <a:bottom>
            <a:ln w="12700" cap="flat">
              <a:solidFill>
                <a:srgbClr val="AAAAAA"/>
              </a:solidFill>
              <a:prstDash val="solid"/>
              <a:miter lim="400000"/>
            </a:ln>
          </a:bottom>
          <a:insideH>
            <a:ln w="12700" cap="flat">
              <a:solidFill>
                <a:srgbClr val="AAAAAA"/>
              </a:solidFill>
              <a:prstDash val="solid"/>
              <a:miter lim="400000"/>
            </a:ln>
          </a:insideH>
          <a:insideV>
            <a:ln w="12700" cap="flat">
              <a:solidFill>
                <a:srgbClr val="AAAAAA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5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5">
              <a:hueOff val="106375"/>
              <a:satOff val="9554"/>
              <a:lumOff val="-13516"/>
            </a:schemeClr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5">
              <a:hueOff val="106375"/>
              <a:satOff val="9554"/>
              <a:lumOff val="-13516"/>
            </a:schemeClr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6">
              <a:hueOff val="-119728"/>
              <a:satOff val="5580"/>
              <a:lumOff val="-12961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650E48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650E48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909090"/>
              </a:solidFill>
              <a:prstDash val="solid"/>
              <a:miter lim="400000"/>
            </a:ln>
          </a:left>
          <a:right>
            <a:ln w="12700" cap="flat">
              <a:solidFill>
                <a:srgbClr val="909090"/>
              </a:solidFill>
              <a:prstDash val="solid"/>
              <a:miter lim="400000"/>
            </a:ln>
          </a:right>
          <a:top>
            <a:ln w="12700" cap="flat">
              <a:solidFill>
                <a:srgbClr val="909090"/>
              </a:solidFill>
              <a:prstDash val="solid"/>
              <a:miter lim="400000"/>
            </a:ln>
          </a:top>
          <a:bottom>
            <a:ln w="12700" cap="flat">
              <a:solidFill>
                <a:srgbClr val="909090"/>
              </a:solidFill>
              <a:prstDash val="solid"/>
              <a:miter lim="400000"/>
            </a:ln>
          </a:bottom>
          <a:insideH>
            <a:ln w="12700" cap="flat">
              <a:solidFill>
                <a:srgbClr val="909090"/>
              </a:solidFill>
              <a:prstDash val="solid"/>
              <a:miter lim="400000"/>
            </a:ln>
          </a:insideH>
          <a:insideV>
            <a:ln w="12700" cap="flat">
              <a:solidFill>
                <a:srgbClr val="90909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798089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96A0AC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96A0AC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25400" cap="flat">
              <a:solidFill>
                <a:srgbClr val="929292"/>
              </a:solidFill>
              <a:prstDash val="solid"/>
              <a:miter lim="400000"/>
            </a:ln>
          </a:top>
          <a:bottom>
            <a:ln w="25400" cap="flat">
              <a:solidFill>
                <a:srgbClr val="929292"/>
              </a:solidFill>
              <a:prstDash val="solid"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25400" cap="flat">
              <a:solidFill>
                <a:srgbClr val="929292"/>
              </a:solidFill>
              <a:prstDash val="solid"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25400" cap="flat">
              <a:solidFill>
                <a:srgbClr val="929292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25400" cap="flat">
              <a:solidFill>
                <a:srgbClr val="929292"/>
              </a:solidFill>
              <a:prstDash val="solid"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25400" cap="flat">
              <a:solidFill>
                <a:srgbClr val="929292"/>
              </a:solidFill>
              <a:prstDash val="solid"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2"/>
    <p:restoredTop sz="94694"/>
  </p:normalViewPr>
  <p:slideViewPr>
    <p:cSldViewPr snapToGrid="0">
      <p:cViewPr varScale="1">
        <p:scale>
          <a:sx n="114" d="100"/>
          <a:sy n="114" d="100"/>
        </p:scale>
        <p:origin x="200" y="328"/>
      </p:cViewPr>
      <p:guideLst>
        <p:guide orient="horz" pos="240"/>
        <p:guide pos="3840"/>
        <p:guide pos="240"/>
        <p:guide orient="horz" pos="22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3" Type="http://schemas.openxmlformats.org/officeDocument/2006/relationships/notesMaster" Target="notesMasters/notesMaster1.xml"/><Relationship Id="rId14" Type="http://schemas.openxmlformats.org/officeDocument/2006/relationships/handoutMaster" Target="handoutMasters/handoutMaster1.xml"/><Relationship Id="rId15" Type="http://schemas.openxmlformats.org/officeDocument/2006/relationships/commentAuthors" Target="commentAuthors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3.xml"/><Relationship Id="rId21" Type="http://schemas.openxmlformats.org/officeDocument/2006/relationships/slide" Target="slides/slide4.xml"/><Relationship Id="rId22" Type="http://schemas.openxmlformats.org/officeDocument/2006/relationships/slide" Target="slides/slide5.xml"/><Relationship Id="rId23" Type="http://schemas.openxmlformats.org/officeDocument/2006/relationships/slide" Target="slides/slide6.xml"/><Relationship Id="rId24" Type="http://schemas.openxmlformats.org/officeDocument/2006/relationships/slide" Target="slides/slide7.xml"/><Relationship Id="rId25" Type="http://schemas.openxmlformats.org/officeDocument/2006/relationships/slide" Target="slides/slide8.xml"/><Relationship Id="rId26" Type="http://schemas.openxmlformats.org/officeDocument/2006/relationships/slide" Target="slides/slide9.xml"/><Relationship Id="rId27" Type="http://schemas.openxmlformats.org/officeDocument/2006/relationships/slide" Target="slides/slide10.xml"/><Relationship Id="rId28" Type="http://schemas.openxmlformats.org/officeDocument/2006/relationships/slide" Target="slides/slide11.xml"/><Relationship Id="rId29" Type="http://schemas.openxmlformats.org/officeDocument/2006/relationships/slide" Target="slides/slide12.xml"/><Relationship Id="rId30" Type="http://schemas.openxmlformats.org/officeDocument/2006/relationships/slide" Target="slides/slide13.xml"/><Relationship Id="rId31" Type="http://schemas.openxmlformats.org/officeDocument/2006/relationships/slide" Target="slides/slide14.xml"/><Relationship Id="rId32" Type="http://schemas.openxmlformats.org/officeDocument/2006/relationships/slide" Target="slides/slide15.xml"/><Relationship Id="rId33" Type="http://schemas.openxmlformats.org/officeDocument/2006/relationships/slide" Target="slides/slide16.xml"/><Relationship Id="rId34" Type="http://schemas.openxmlformats.org/officeDocument/2006/relationships/slide" Target="slides/slide17.xml"/><Relationship Id="rId35" Type="http://schemas.openxmlformats.org/officeDocument/2006/relationships/slide" Target="slides/slide18.xml"/><Relationship Id="rId36" Type="http://schemas.openxmlformats.org/officeDocument/2006/relationships/slide" Target="slides/slide19.xml"/><Relationship Id="rId37" Type="http://schemas.openxmlformats.org/officeDocument/2006/relationships/slide" Target="slides/slide20.xml"/><Relationship Id="rId38" Type="http://schemas.openxmlformats.org/officeDocument/2006/relationships/slide" Target="slides/slide21.xml"/><Relationship Id="rId39" Type="http://schemas.openxmlformats.org/officeDocument/2006/relationships/slide" Target="slides/slide22.xml"/><Relationship Id="rId40" Type="http://schemas.openxmlformats.org/officeDocument/2006/relationships/slide" Target="slides/slide23.xml"/><Relationship Id="rId41" Type="http://schemas.openxmlformats.org/officeDocument/2006/relationships/slide" Target="slides/slide24.xml"/><Relationship Id="rId42" Type="http://schemas.openxmlformats.org/officeDocument/2006/relationships/slide" Target="slides/slide25.xml"/><Relationship Id="rId43" Type="http://schemas.openxmlformats.org/officeDocument/2006/relationships/slide" Target="slides/slide26.xml"/><Relationship Id="rId44" Type="http://schemas.openxmlformats.org/officeDocument/2006/relationships/slide" Target="slides/slide27.xml"/><Relationship Id="rId45" Type="http://schemas.openxmlformats.org/officeDocument/2006/relationships/slide" Target="slides/slide28.xml"/><Relationship Id="rId46" Type="http://schemas.openxmlformats.org/officeDocument/2006/relationships/slide" Target="slides/slide29.xml"/><Relationship Id="rId47" Type="http://schemas.openxmlformats.org/officeDocument/2006/relationships/slide" Target="slides/slide30.xml"/><Relationship Id="rId48" Type="http://schemas.openxmlformats.org/officeDocument/2006/relationships/slide" Target="slides/slide31.xml"/><Relationship Id="rId49" Type="http://schemas.openxmlformats.org/officeDocument/2006/relationships/slide" Target="slides/slide32.xml"/><Relationship Id="rId50" Type="http://schemas.openxmlformats.org/officeDocument/2006/relationships/slide" Target="slides/slide33.xml"/><Relationship Id="rId51" Type="http://schemas.openxmlformats.org/officeDocument/2006/relationships/slide" Target="slides/slide34.xml"/><Relationship Id="rId52" Type="http://schemas.openxmlformats.org/officeDocument/2006/relationships/slide" Target="slides/slide35.xml"/><Relationship Id="rId53" Type="http://schemas.openxmlformats.org/officeDocument/2006/relationships/slide" Target="slides/slide36.xml"/><Relationship Id="rId54" Type="http://schemas.openxmlformats.org/officeDocument/2006/relationships/slide" Target="slides/slide37.xml"/><Relationship Id="rId55" Type="http://schemas.openxmlformats.org/officeDocument/2006/relationships/slide" Target="slides/slide38.xml"/><Relationship Id="rId56" Type="http://schemas.openxmlformats.org/officeDocument/2006/relationships/slide" Target="slides/slide39.xml"/><Relationship Id="rId57" Type="http://schemas.openxmlformats.org/officeDocument/2006/relationships/slide" Target="slides/slide40.xml"/><Relationship Id="rId58" Type="http://schemas.openxmlformats.org/officeDocument/2006/relationships/slide" Target="slides/slide41.xml"/><Relationship Id="rId59" Type="http://schemas.openxmlformats.org/officeDocument/2006/relationships/slide" Target="slides/slide42.xml"/><Relationship Id="rId60" Type="http://schemas.openxmlformats.org/officeDocument/2006/relationships/slide" Target="slides/slide43.xml"/><Relationship Id="rId61" Type="http://schemas.openxmlformats.org/officeDocument/2006/relationships/slide" Target="slides/slide44.xml"/><Relationship Id="rId62" Type="http://schemas.openxmlformats.org/officeDocument/2006/relationships/slide" Target="slides/slide45.xml"/><Relationship Id="rId63" Type="http://schemas.openxmlformats.org/officeDocument/2006/relationships/slide" Target="slides/slide46.xml"/><Relationship Id="rId64" Type="http://schemas.openxmlformats.org/officeDocument/2006/relationships/slide" Target="slides/slide47.xml"/><Relationship Id="rId65" Type="http://schemas.openxmlformats.org/officeDocument/2006/relationships/slide" Target="slides/slide48.xml"/><Relationship Id="rId66" Type="http://schemas.openxmlformats.org/officeDocument/2006/relationships/slide" Target="slides/slide49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38C4DA5-1F50-07BA-61AB-EC375CAA0C6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C081F7-2215-2CF4-28B4-9CECFC4AAFF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602C26-7A89-43ED-8411-2303B4D08797}" type="datetimeFigureOut">
              <a:rPr lang="en-US" smtClean="0"/>
              <a:t>1/14/26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E85004-CDBA-4130-C170-DD80721372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D524A8-90CF-47B3-629C-01F2E5D97E6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6CA07C-3E08-48E7-B2B3-670A1D7D82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389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hape 144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5" name="Shape 14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1pPr>
    <a:lvl2pPr indent="1143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2pPr>
    <a:lvl3pPr indent="2286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3pPr>
    <a:lvl4pPr indent="3429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4pPr>
    <a:lvl5pPr indent="4572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5pPr>
    <a:lvl6pPr indent="5715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6pPr>
    <a:lvl7pPr indent="6858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7pPr>
    <a:lvl8pPr indent="8001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8pPr>
    <a:lvl9pPr indent="9144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889000" y="1149350"/>
            <a:ext cx="10414000" cy="23241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89000" y="3536950"/>
            <a:ext cx="10414000" cy="79375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ClrTx/>
              <a:buSzTx/>
              <a:buNone/>
              <a:defRPr sz="2700"/>
            </a:lvl1pPr>
            <a:lvl2pPr marL="0" indent="0" algn="ctr">
              <a:spcBef>
                <a:spcPts val="0"/>
              </a:spcBef>
              <a:buClrTx/>
              <a:buSzTx/>
              <a:buNone/>
              <a:defRPr sz="2700"/>
            </a:lvl2pPr>
            <a:lvl3pPr marL="0" indent="0" algn="ctr">
              <a:spcBef>
                <a:spcPts val="0"/>
              </a:spcBef>
              <a:buClrTx/>
              <a:buSzTx/>
              <a:buNone/>
              <a:defRPr sz="2700"/>
            </a:lvl3pPr>
            <a:lvl4pPr marL="0" indent="0" algn="ctr">
              <a:spcBef>
                <a:spcPts val="0"/>
              </a:spcBef>
              <a:buClrTx/>
              <a:buSzTx/>
              <a:buNone/>
              <a:defRPr sz="2700"/>
            </a:lvl4pPr>
            <a:lvl5pPr marL="0" indent="0" algn="ctr">
              <a:spcBef>
                <a:spcPts val="0"/>
              </a:spcBef>
              <a:buClrTx/>
              <a:buSzTx/>
              <a:buNone/>
              <a:defRPr sz="27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" pitchFamily="2" charset="0"/>
              </a:defRPr>
            </a:lvl1pPr>
          </a:lstStyle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anchor="t"/>
          <a:lstStyle>
            <a:lvl1pPr>
              <a:buClrTx/>
            </a:lvl1pPr>
            <a:lvl2pPr>
              <a:buClrTx/>
            </a:lvl2pPr>
            <a:lvl3pPr>
              <a:buClrTx/>
            </a:lvl3pPr>
            <a:lvl4pPr>
              <a:buClrTx/>
            </a:lvl4pPr>
            <a:lvl5pPr>
              <a:buClrTx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1_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30FA663-7383-DBEA-0822-E60A81C633F0}"/>
              </a:ext>
            </a:extLst>
          </p:cNvPr>
          <p:cNvSpPr/>
          <p:nvPr userDrawn="1"/>
        </p:nvSpPr>
        <p:spPr>
          <a:xfrm>
            <a:off x="391893" y="1510234"/>
            <a:ext cx="10502900" cy="4663440"/>
          </a:xfrm>
          <a:prstGeom prst="rect">
            <a:avLst/>
          </a:prstGeom>
          <a:solidFill>
            <a:schemeClr val="tx1"/>
          </a:solidFill>
          <a:ln w="127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56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" pitchFamily="2" charset="0"/>
              </a:defRPr>
            </a:lvl1pPr>
          </a:lstStyle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anchor="t"/>
          <a:lstStyle>
            <a:lvl1pPr>
              <a:buClrTx/>
              <a:defRPr>
                <a:solidFill>
                  <a:sysClr val="windowText" lastClr="000000"/>
                </a:solidFill>
              </a:defRPr>
            </a:lvl1pPr>
            <a:lvl2pPr>
              <a:buClrTx/>
              <a:defRPr>
                <a:solidFill>
                  <a:sysClr val="windowText" lastClr="000000"/>
                </a:solidFill>
              </a:defRPr>
            </a:lvl2pPr>
            <a:lvl3pPr>
              <a:buClrTx/>
              <a:defRPr>
                <a:solidFill>
                  <a:sysClr val="windowText" lastClr="000000"/>
                </a:solidFill>
              </a:defRPr>
            </a:lvl3pPr>
            <a:lvl4pPr>
              <a:buClrTx/>
              <a:defRPr>
                <a:solidFill>
                  <a:sysClr val="windowText" lastClr="000000"/>
                </a:solidFill>
              </a:defRPr>
            </a:lvl4pPr>
            <a:lvl5pPr>
              <a:buClrTx/>
              <a:defRPr>
                <a:solidFill>
                  <a:sysClr val="windowText" lastClr="000000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77480909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5608D-4713-EC4E-8282-1C5903FFF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703942-D76B-E483-FD9F-5C81E63F78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85425-7D1C-09B7-607F-1A6EFECEA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2E6D3-DAA8-1045-973E-B04736FFA309}" type="datetime1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D40273-0B5C-173D-2556-D11627A5D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1E5416-1A1B-9395-6E3C-3A72C99BF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396A5-FD69-DA43-B2E1-3F15D4A7FF7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637EA6-3581-4CC5-574C-8C5FC52F2DA3}"/>
              </a:ext>
            </a:extLst>
          </p:cNvPr>
          <p:cNvSpPr txBox="1"/>
          <p:nvPr userDrawn="1"/>
        </p:nvSpPr>
        <p:spPr>
          <a:xfrm>
            <a:off x="9869424" y="13414"/>
            <a:ext cx="23225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>
                <a:solidFill>
                  <a:schemeClr val="bg1"/>
                </a:solidFill>
                <a:latin typeface="Helvetica" pitchFamily="2" charset="0"/>
              </a:rPr>
              <a:t>CONFIDENTIAL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C72B28-BA7F-AB94-BC28-D32B4CF83E0C}"/>
              </a:ext>
            </a:extLst>
          </p:cNvPr>
          <p:cNvSpPr/>
          <p:nvPr userDrawn="1"/>
        </p:nvSpPr>
        <p:spPr>
          <a:xfrm>
            <a:off x="838200" y="1146412"/>
            <a:ext cx="10515600" cy="503055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00556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00205F"/>
            </a:gs>
            <a:gs pos="7000">
              <a:schemeClr val="bg1"/>
            </a:gs>
          </a:gsLst>
          <a:lin ang="1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386899" y="386899"/>
            <a:ext cx="10502900" cy="60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t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387391" y="1510234"/>
            <a:ext cx="10502900" cy="464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t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01"/>
          <p:cNvSpPr txBox="1">
            <a:spLocks noGrp="1"/>
          </p:cNvSpPr>
          <p:nvPr>
            <p:ph type="sldNum" sz="quarter" idx="2"/>
          </p:nvPr>
        </p:nvSpPr>
        <p:spPr>
          <a:xfrm>
            <a:off x="11895444" y="6542617"/>
            <a:ext cx="296556" cy="287258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algn="ctr">
              <a:spcBef>
                <a:spcPts val="0"/>
              </a:spcBef>
              <a:defRPr sz="1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C0A49765-7C13-4464-8753-5BEDD4AF8F1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DA81DF-5627-809F-F7C0-20F4F8BD82D8}"/>
              </a:ext>
            </a:extLst>
          </p:cNvPr>
          <p:cNvSpPr txBox="1"/>
          <p:nvPr userDrawn="1"/>
        </p:nvSpPr>
        <p:spPr>
          <a:xfrm>
            <a:off x="11150048" y="0"/>
            <a:ext cx="1041952" cy="2564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000" b="0" i="1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CONFIDENTIAL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CA1D80-2B1F-14C2-193E-5A3CEC80E93B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 l="4356" t="11145" r="84944" b="51846"/>
          <a:stretch>
            <a:fillRect/>
          </a:stretch>
        </p:blipFill>
        <p:spPr>
          <a:xfrm>
            <a:off x="0" y="6540500"/>
            <a:ext cx="422275" cy="289375"/>
          </a:xfrm>
          <a:prstGeom prst="rect">
            <a:avLst/>
          </a:prstGeom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64" r:id="rId3"/>
    <p:sldLayoutId id="2147483665" r:id="rId4"/>
  </p:sldLayoutIdLst>
  <p:transition spd="med"/>
  <p:hf hdr="0" ftr="0" dt="0"/>
  <p:txStyles>
    <p:titleStyle>
      <a:lvl1pPr marL="0" marR="0" indent="0" algn="l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0" baseline="0">
          <a:solidFill>
            <a:srgbClr val="FFFFFF"/>
          </a:solidFill>
          <a:uFillTx/>
          <a:latin typeface="Helvetica" pitchFamily="2" charset="0"/>
          <a:ea typeface="+mn-ea"/>
          <a:cs typeface="+mn-cs"/>
          <a:sym typeface="Helvetica Neue Medium"/>
        </a:defRPr>
      </a:lvl1pPr>
      <a:lvl2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317500" marR="0" indent="-317500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>
          <a:srgbClr val="FFFFFF"/>
        </a:buClr>
        <a:buSzPct val="125000"/>
        <a:buFontTx/>
        <a:buChar char="•"/>
        <a:tabLst/>
        <a:defRPr sz="2400" b="0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635000" marR="0" indent="-317500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>
          <a:srgbClr val="FFFFFF"/>
        </a:buClr>
        <a:buSzPct val="125000"/>
        <a:buFontTx/>
        <a:buChar char="•"/>
        <a:tabLst/>
        <a:defRPr sz="1800" b="0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952500" marR="0" indent="-317500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>
          <a:srgbClr val="FFFFFF"/>
        </a:buClr>
        <a:buSzPct val="125000"/>
        <a:buFontTx/>
        <a:buChar char="•"/>
        <a:tabLst/>
        <a:defRPr sz="1500" b="0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1270000" marR="0" indent="-317500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>
          <a:srgbClr val="FFFFFF"/>
        </a:buClr>
        <a:buSzPct val="125000"/>
        <a:buFontTx/>
        <a:buChar char="•"/>
        <a:tabLst/>
        <a:defRPr sz="1200" b="0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1587500" marR="0" indent="-317500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>
          <a:srgbClr val="FFFFFF"/>
        </a:buClr>
        <a:buSzPct val="125000"/>
        <a:buFontTx/>
        <a:buChar char="•"/>
        <a:tabLst/>
        <a:defRPr sz="1000" b="0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1905000" marR="0" indent="-317500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>
          <a:srgbClr val="FFFFFF"/>
        </a:buClr>
        <a:buSzPct val="125000"/>
        <a:buFontTx/>
        <a:buChar char="•"/>
        <a:tabLst/>
        <a:defRPr sz="2400" b="0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2222500" marR="0" indent="-317500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>
          <a:srgbClr val="FFFFFF"/>
        </a:buClr>
        <a:buSzPct val="125000"/>
        <a:buFontTx/>
        <a:buChar char="•"/>
        <a:tabLst/>
        <a:defRPr sz="2400" b="0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2540000" marR="0" indent="-317500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>
          <a:srgbClr val="FFFFFF"/>
        </a:buClr>
        <a:buSzPct val="125000"/>
        <a:buFontTx/>
        <a:buChar char="•"/>
        <a:tabLst/>
        <a:defRPr sz="2400" b="0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2857500" marR="0" indent="-317500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>
          <a:srgbClr val="FFFFFF"/>
        </a:buClr>
        <a:buSzPct val="125000"/>
        <a:buFontTx/>
        <a:buChar char="•"/>
        <a:tabLst/>
        <a:defRPr sz="2400" b="0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1143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2286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3429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4572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5715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6858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8001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9144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240" userDrawn="1">
          <p15:clr>
            <a:srgbClr val="F26B43"/>
          </p15:clr>
        </p15:guide>
        <p15:guide id="4" orient="horz" pos="226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FA6C8F9-8DD9-00D7-6D2F-2FE379F77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000" y="395006"/>
            <a:ext cx="10414000" cy="2324100"/>
          </a:xfrm>
        </p:spPr>
        <p:txBody>
          <a:bodyPr/>
          <a:lstStyle/>
          <a:p>
            <a:pPr marL="0" indent="0">
              <a:buNone/>
            </a:pPr>
            <a:r>
              <a:rPr b="1"/>
              <a:t>Claude Code: From Coding to Workflow Design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62522C-1B9A-EB00-6026-62649AE56607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889000" y="2782606"/>
            <a:ext cx="10414000" cy="793750"/>
          </a:xfrm>
        </p:spPr>
        <p:txBody>
          <a:bodyPr/>
          <a:lstStyle/>
          <a:p>
            <a:pPr algn="l" marL="0" indent="0">
              <a:buNone/>
            </a:pPr>
            <a:r>
              <a:t>ChangHee Lee
Computational Team Lunch &amp; Learn 2026-01-14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E88BA0-9342-F21E-9BC5-D4ECCCFCAC30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805652-B379-F4E2-23B4-1D99A27368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5"/>
          <a:stretch>
            <a:fillRect/>
          </a:stretch>
        </p:blipFill>
        <p:spPr>
          <a:xfrm>
            <a:off x="-133" y="4430994"/>
            <a:ext cx="12192265" cy="2427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876250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Here is our journey today.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The Paradigm Shift — From coding to orchestration</a:t>
            </a:r>
          </a:p>
          <a:p>
            <a:pPr marL="365760" indent="-182880" algn="l">
              <a:buChar char="•"/>
            </a:pPr>
            <a:r>
              <a:t>Context Engineering — The fundamental constraint</a:t>
            </a:r>
          </a:p>
          <a:p>
            <a:pPr marL="365760" indent="-182880" algn="l">
              <a:buChar char="•"/>
            </a:pPr>
            <a:r>
              <a:t>Getting Started — Installation and configuration</a:t>
            </a:r>
          </a:p>
          <a:p>
            <a:pPr marL="365760" indent="-182880" algn="l">
              <a:buChar char="•"/>
            </a:pPr>
            <a:r>
              <a:t>Cursor vs Alternatives — Comparing tools</a:t>
            </a:r>
          </a:p>
          <a:p>
            <a:pPr marL="365760" indent="-182880" algn="l">
              <a:buChar char="•"/>
            </a:pPr>
            <a:r>
              <a:t>Demo &amp; Future — Live demo and what's next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119648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Section 1: The Paradigm Shift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From writing code to designing workflows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We are stuck in an old mental model.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Old: Developer writes code line by line</a:t>
            </a:r>
          </a:p>
          <a:p>
            <a:pPr lvl="1" marL="731520" indent="-182880" algn="l">
              <a:buChar char="•"/>
            </a:pPr>
            <a:r>
              <a:t>New: Developer describes outcomes</a:t>
            </a:r>
          </a:p>
          <a:p>
            <a:pPr marL="365760" indent="-182880" algn="l">
              <a:buChar char="•"/>
            </a:pPr>
            <a:r>
              <a:t>Old: IDE assists with autocomplete</a:t>
            </a:r>
          </a:p>
          <a:p>
            <a:pPr lvl="1" marL="731520" indent="-182880" algn="l">
              <a:buChar char="•"/>
            </a:pPr>
            <a:r>
              <a:t>New: Agent plans and executes</a:t>
            </a:r>
          </a:p>
          <a:p>
            <a:pPr marL="365760" indent="-182880" algn="l">
              <a:buChar char="•"/>
            </a:pPr>
            <a:r>
              <a:t>Old: Human is the executor</a:t>
            </a:r>
          </a:p>
          <a:p>
            <a:pPr lvl="1" marL="731520" indent="-182880" algn="l">
              <a:buChar char="•"/>
            </a:pPr>
            <a:r>
              <a:t>New: Human supervises and validates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Engineers now design systems.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7391" y="1510234"/>
            <a:ext cx="5943600" cy="4648200"/>
          </a:xfrm>
        </p:spPr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One person built a Polymarket tool in 2 hours without writing code</a:t>
            </a:r>
          </a:p>
          <a:p>
            <a:pPr marL="365760" indent="-182880" algn="l">
              <a:buChar char="•"/>
            </a:pPr>
            <a:r>
              <a:t>The technique mattered more than which AI was used</a:t>
            </a:r>
          </a:p>
          <a:p>
            <a:pPr marL="365760" indent="-182880" algn="l">
              <a:buChar char="•"/>
            </a:pPr>
            <a:r>
              <a:t>Architecture and process design become primary skills</a:t>
            </a:r>
          </a:p>
          <a:p>
            <a:pPr marL="365760" indent="-182880" algn="l">
              <a:buChar char="•"/>
            </a:pPr>
            <a:r>
              <a:t>"The outcome is defined by the process, not the model." — Mike.tech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  <p:pic>
        <p:nvPicPr>
          <p:cNvPr id="5" name="Picture 4" descr="Slide005-blog-mike-tech-death-of-softw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029200" cy="42018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You communicate intent to agents.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7391" y="1510234"/>
            <a:ext cx="5943600" cy="4648200"/>
          </a:xfrm>
        </p:spPr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Use XML tags: &lt;task&gt;, &lt;context&gt;, &lt;constraints&gt;, &lt;output_format&gt;</a:t>
            </a:r>
          </a:p>
          <a:p>
            <a:pPr marL="365760" indent="-182880" algn="l">
              <a:buChar char="•"/>
            </a:pPr>
            <a:r>
              <a:t>Code-Level: "Write a function that..." → Implementation focus</a:t>
            </a:r>
          </a:p>
          <a:p>
            <a:pPr marL="365760" indent="-182880" algn="l">
              <a:buChar char="•"/>
            </a:pPr>
            <a:r>
              <a:t>Abstract: "I need to transform X into Y" → Intent focus</a:t>
            </a:r>
          </a:p>
          <a:p>
            <a:pPr marL="365760" indent="-182880" algn="l">
              <a:buChar char="•"/>
            </a:pPr>
            <a:r>
              <a:t>"It's like I was driving a race car in first gear."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  <p:pic>
        <p:nvPicPr>
          <p:cNvPr id="5" name="Picture 4" descr="Slide006-reddit-xml-structured-promp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029200" cy="353572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CLAUDE.md updates compound over time.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7391" y="1510234"/>
            <a:ext cx="5943600" cy="4648200"/>
          </a:xfrm>
        </p:spPr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Session 1: Write CLAUDE.md with basic project context</a:t>
            </a:r>
          </a:p>
          <a:p>
            <a:pPr lvl="1" marL="731520" indent="-182880" algn="l">
              <a:buChar char="•"/>
            </a:pPr>
            <a:r>
              <a:t>Session 5: Add common commands, conventions, warnings</a:t>
            </a:r>
          </a:p>
          <a:p>
            <a:pPr lvl="1" marL="731520" indent="-182880" algn="l">
              <a:buChar char="•"/>
            </a:pPr>
            <a:r>
              <a:t>Session 20: Refined skills, custom hooks, team patterns</a:t>
            </a:r>
          </a:p>
          <a:p>
            <a:pPr lvl="1" marL="731520" indent="-182880" algn="l">
              <a:buChar char="•"/>
            </a:pPr>
            <a:r>
              <a:t>Session 100: Agent works like a trained team member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  <p:pic>
        <p:nvPicPr>
          <p:cNvPr id="5" name="Picture 4" descr="Slide007-workflow-improvement-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029200" cy="3352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Claude Code is a general agent.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February 2025: Launch as CLI research preview</a:t>
            </a:r>
          </a:p>
          <a:p>
            <a:pPr marL="365760" indent="-182880" algn="l">
              <a:buChar char="•"/>
            </a:pPr>
            <a:r>
              <a:t>October 2025: Web launch on claude.ai</a:t>
            </a:r>
          </a:p>
          <a:p>
            <a:pPr marL="365760" indent="-182880" algn="l">
              <a:buChar char="•"/>
            </a:pPr>
            <a:r>
              <a:t>November 2025: $1B revenue run-rate</a:t>
            </a:r>
          </a:p>
          <a:p>
            <a:pPr marL="365760" indent="-182880" algn="l">
              <a:buChar char="•"/>
            </a:pPr>
            <a:r>
              <a:t>January 2026: Multi-agent infrastructure (v2.1.0)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It automates anything you can type.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File system access (read, write, edit)</a:t>
            </a:r>
          </a:p>
          <a:p>
            <a:pPr marL="365760" indent="-182880" algn="l">
              <a:buChar char="•"/>
            </a:pPr>
            <a:r>
              <a:t>Command execution (shell access)</a:t>
            </a:r>
          </a:p>
          <a:p>
            <a:pPr marL="365760" indent="-182880" algn="l">
              <a:buChar char="•"/>
            </a:pPr>
            <a:r>
              <a:t>Context awareness (understands project structure)</a:t>
            </a:r>
          </a:p>
          <a:p>
            <a:pPr marL="365760" indent="-182880" algn="l">
              <a:buChar char="•"/>
            </a:pPr>
            <a:r>
              <a:t>Autonomous operation (minimal supervision)</a:t>
            </a:r>
          </a:p>
          <a:p>
            <a:pPr marL="365760" indent="-182880" algn="l">
              <a:buChar char="•"/>
            </a:pPr>
            <a:r>
              <a:t>"Agents are tools in a loop" — Simon Willison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It is an LLM with filesystem access.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Web Chatbot: Stateless conversations, copy-paste snippets</a:t>
            </a:r>
          </a:p>
          <a:p>
            <a:pPr marL="365760" indent="-182880" algn="l">
              <a:buChar char="•"/>
            </a:pPr>
            <a:r>
              <a:t>Claude Code: Persistent filesystem access, direct file read/write</a:t>
            </a:r>
          </a:p>
          <a:p>
            <a:pPr marL="365760" indent="-182880" algn="l">
              <a:buChar char="•"/>
            </a:pPr>
            <a:r>
              <a:t>Web Chatbot: Describe your environment, human executes commands</a:t>
            </a:r>
          </a:p>
          <a:p>
            <a:pPr marL="365760" indent="-182880" algn="l">
              <a:buChar char="•"/>
            </a:pPr>
            <a:r>
              <a:t>Claude Code: Agent explores and executes autonomously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Its power comes from simplicity.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No heavyweight protocols needed</a:t>
            </a:r>
          </a:p>
          <a:p>
            <a:pPr marL="365760" indent="-182880" algn="l">
              <a:buChar char="•"/>
            </a:pPr>
            <a:r>
              <a:t>Skills are just markdown files the agent reads</a:t>
            </a:r>
          </a:p>
          <a:p>
            <a:pPr marL="365760" indent="-182880" algn="l">
              <a:buChar char="•"/>
            </a:pPr>
            <a:r>
              <a:t>Four tools (read, write, edit, bash) outperform complex ecosystems</a:t>
            </a:r>
          </a:p>
          <a:p>
            <a:pPr marL="365760" indent="-182880" algn="l">
              <a:buChar char="•"/>
            </a:pPr>
            <a:r>
              <a:t>Outsources hard parts to the LLM harness and computer environment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Section 2: Context Engineering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The fundamental constraint and how to work around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O(N²) complexity creates hard limits.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Attention mechanism scales quadratically with sequence length</a:t>
            </a:r>
          </a:p>
          <a:p>
            <a:pPr marL="365760" indent="-182880" algn="l">
              <a:buChar char="•"/>
            </a:pPr>
            <a:r>
              <a:t>Context window is a hard limit on what the model can "see"</a:t>
            </a:r>
          </a:p>
          <a:p>
            <a:pPr marL="365760" indent="-182880" algn="l">
              <a:buChar char="•"/>
            </a:pPr>
            <a:r>
              <a:t>Everything the model knows about your task must fit in this window</a:t>
            </a:r>
          </a:p>
          <a:p>
            <a:pPr marL="365760" indent="-182880" algn="l">
              <a:buChar char="•"/>
            </a:pPr>
            <a:r>
              <a:t>Wasted tokens = reduced capability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Context engineering is the key skill.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Minimal system prompts: &lt;1,000 tokens vs competitors' 10,000+</a:t>
            </a:r>
          </a:p>
          <a:p>
            <a:pPr marL="365760" indent="-182880" algn="l">
              <a:buChar char="•"/>
            </a:pPr>
            <a:r>
              <a:t>File-based planning: External markdown preserves info across sessions</a:t>
            </a:r>
          </a:p>
          <a:p>
            <a:pPr marL="365760" indent="-182880" algn="l">
              <a:buChar char="•"/>
            </a:pPr>
            <a:r>
              <a:t>Progressive disclosure: Load tool docs only when needed</a:t>
            </a:r>
          </a:p>
          <a:p>
            <a:pPr marL="365760" indent="-182880" algn="l">
              <a:buChar char="•"/>
            </a:pPr>
            <a:r>
              <a:t>Pre-session artifacts: Research sessions → implementation sessions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/status monitors context in real-time.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7391" y="1510234"/>
            <a:ext cx="5943600" cy="4648200"/>
          </a:xfrm>
        </p:spPr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Current session: percentage of context window used</a:t>
            </a:r>
          </a:p>
          <a:p>
            <a:pPr marL="365760" indent="-182880" algn="l">
              <a:buChar char="•"/>
            </a:pPr>
            <a:r>
              <a:t>Session reset: when the 5-hour window resets</a:t>
            </a:r>
          </a:p>
          <a:p>
            <a:pPr marL="365760" indent="-182880" algn="l">
              <a:buChar char="•"/>
            </a:pPr>
            <a:r>
              <a:t>Weekly usage across Opus and Sonnet models</a:t>
            </a:r>
          </a:p>
          <a:p>
            <a:pPr marL="365760" indent="-182880" algn="l">
              <a:buChar char="•"/>
            </a:pPr>
            <a:r>
              <a:t>[Figure: status-tab-usage.png]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  <p:pic>
        <p:nvPicPr>
          <p:cNvPr id="5" name="Picture 4" descr="Slide015-status-tab-us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029200" cy="472858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Subagents spawn fresh context windows.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Each subagent gets its own fresh context window</a:t>
            </a:r>
          </a:p>
          <a:p>
            <a:pPr marL="365760" indent="-182880" algn="l">
              <a:buChar char="•"/>
            </a:pPr>
            <a:r>
              <a:t>Example: 36 files ÷ 3 subagents = 12 files each</a:t>
            </a:r>
          </a:p>
          <a:p>
            <a:pPr marL="365760" indent="-182880" algn="l">
              <a:buChar char="•"/>
            </a:pPr>
            <a:r>
              <a:t>Prevents main agent from sequential overload</a:t>
            </a:r>
          </a:p>
          <a:p>
            <a:pPr marL="365760" indent="-182880" algn="l">
              <a:buChar char="•"/>
            </a:pPr>
            <a:r>
              <a:t>Enables parallel processing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Agentic patterns have emerged.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Context &amp; Memory: Context-minimization, dynamic injection</a:t>
            </a:r>
          </a:p>
          <a:p>
            <a:pPr marL="365760" indent="-182880" algn="l">
              <a:buChar char="•"/>
            </a:pPr>
            <a:r>
              <a:t>Feedback Loops: Self-critique, reflection, spec-as-test</a:t>
            </a:r>
          </a:p>
          <a:p>
            <a:pPr marL="365760" indent="-182880" algn="l">
              <a:buChar char="•"/>
            </a:pPr>
            <a:r>
              <a:t>Orchestration: Plan-then-execute, phase separation</a:t>
            </a:r>
          </a:p>
          <a:p>
            <a:pPr marL="365760" indent="-182880" algn="l">
              <a:buChar char="•"/>
            </a:pPr>
            <a:r>
              <a:t>Tool Use: CLI-first, code-over-API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Skills are markdown with instructions.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Just markdown files with YAML metadata</a:t>
            </a:r>
          </a:p>
          <a:p>
            <a:pPr marL="365760" indent="-182880" algn="l">
              <a:buChar char="•"/>
            </a:pPr>
            <a:r>
              <a:t>Brief summaries scanned before full load</a:t>
            </a:r>
          </a:p>
          <a:p>
            <a:pPr marL="365760" indent="-182880" algn="l">
              <a:buChar char="•"/>
            </a:pPr>
            <a:r>
              <a:t>Shareable across models and tools</a:t>
            </a:r>
          </a:p>
          <a:p>
            <a:pPr marL="365760" indent="-182880" algn="l">
              <a:buChar char="•"/>
            </a:pPr>
            <a:r>
              <a:t>No heavyweight protocols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140+ scientific skills are available.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28+ Scientific databases (OpenAlex, PubMed, ChEMBL, UniProt)</a:t>
            </a:r>
          </a:p>
          <a:p>
            <a:pPr marL="365760" indent="-182880" algn="l">
              <a:buChar char="•"/>
            </a:pPr>
            <a:r>
              <a:t>55+ Python packages (RDKit, Scanpy, PyTorch)</a:t>
            </a:r>
          </a:p>
          <a:p>
            <a:pPr marL="365760" indent="-182880" algn="l">
              <a:buChar char="•"/>
            </a:pPr>
            <a:r>
              <a:t>15+ Scientific integrations (Benchling, DNAnexus)</a:t>
            </a:r>
          </a:p>
          <a:p>
            <a:pPr marL="365760" indent="-182880" algn="l">
              <a:buChar char="•"/>
            </a:pPr>
            <a:r>
              <a:t>Categories: Bioinformatics, Cheminformatics, Clinical Research, ML/AI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MCP can waste 7-9% of context.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Anti-MCP: Tools you never use still consume tokens</a:t>
            </a:r>
          </a:p>
          <a:p>
            <a:pPr lvl="1" marL="731520" indent="-182880" algn="l">
              <a:buChar char="•"/>
            </a:pPr>
            <a:r>
              <a:t>Alternative: CLI tools with README loaded on-demand</a:t>
            </a:r>
          </a:p>
          <a:p>
            <a:pPr marL="365760" indent="-182880" algn="l">
              <a:buChar char="•"/>
            </a:pPr>
            <a:r>
              <a:t>Pro-MCP: Convenience of always-available tools</a:t>
            </a:r>
          </a:p>
          <a:p>
            <a:pPr marL="365760" indent="-182880" algn="l">
              <a:buChar char="•"/>
            </a:pPr>
            <a:r>
              <a:t>Trade-off: Convenience vs. context efficiency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Git worktree enables parallel sessions.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7391" y="1510234"/>
            <a:ext cx="5943600" cy="4648200"/>
          </a:xfrm>
        </p:spPr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git worktree add ../feature-auth feature/auth</a:t>
            </a:r>
          </a:p>
          <a:p>
            <a:pPr marL="365760" indent="-182880" algn="l">
              <a:buChar char="•"/>
            </a:pPr>
            <a:r>
              <a:t>Run Claude Code in each worktree (separate terminals)</a:t>
            </a:r>
          </a:p>
          <a:p>
            <a:pPr marL="365760" indent="-182880" algn="l">
              <a:buChar char="•"/>
            </a:pPr>
            <a:r>
              <a:t>Single Session: Sequential task completion, one context</a:t>
            </a:r>
          </a:p>
          <a:p>
            <a:pPr marL="365760" indent="-182880" algn="l">
              <a:buChar char="•"/>
            </a:pPr>
            <a:r>
              <a:t>Parallel Sessions: Simultaneous progress, multiple fresh contexts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  <p:pic>
        <p:nvPicPr>
          <p:cNvPr id="5" name="Picture 4" descr="Slide021-tweet-boris-cherny-parallel-clau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4294057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Parallelization multiplies efficiency.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1. Workflow Design: Define what agents should do</a:t>
            </a:r>
          </a:p>
          <a:p>
            <a:pPr marL="365760" indent="-182880" algn="l">
              <a:buChar char="•"/>
            </a:pPr>
            <a:r>
              <a:t>2. Context Engineering: Optimize what agents can see</a:t>
            </a:r>
          </a:p>
          <a:p>
            <a:pPr marL="365760" indent="-182880" algn="l">
              <a:buChar char="•"/>
            </a:pPr>
            <a:r>
              <a:t>3. Parallelization: Scale by running multiple agents</a:t>
            </a:r>
          </a:p>
          <a:p>
            <a:pPr marL="365760" indent="-182880" algn="l">
              <a:buChar char="•"/>
            </a:pPr>
            <a:r>
              <a:t>Boris Cherny (Claude Code creator) runs 5 Claudes in parallel!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Section 3: Getting Started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Installation, configuration, and safety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One npm install gets you started.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npm install -g @anthropic-ai/claude-code</a:t>
            </a:r>
          </a:p>
          <a:p>
            <a:pPr marL="365760" indent="-182880" algn="l">
              <a:buChar char="•"/>
            </a:pPr>
            <a:r>
              <a:t>claude --version</a:t>
            </a:r>
          </a:p>
          <a:p>
            <a:pPr marL="365760" indent="-182880" algn="l">
              <a:buChar char="•"/>
            </a:pPr>
            <a:r>
              <a:t>cd your-project &amp;&amp; claude</a:t>
            </a:r>
          </a:p>
          <a:p>
            <a:pPr marL="365760" indent="-182880" algn="l">
              <a:buChar char="•"/>
            </a:pPr>
            <a:r>
              <a:t>First run: authenticate, create ~/.claude/, optionally run /init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Plans range from $20 to $200/month.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Pro ($20/month): Light usage, small repos</a:t>
            </a:r>
          </a:p>
          <a:p>
            <a:pPr marL="365760" indent="-182880" algn="l">
              <a:buChar char="•"/>
            </a:pPr>
            <a:r>
              <a:t>Max 5x ($100/month): Moderate usage, larger repos</a:t>
            </a:r>
          </a:p>
          <a:p>
            <a:pPr marL="365760" indent="-182880" algn="l">
              <a:buChar char="•"/>
            </a:pPr>
            <a:r>
              <a:t>Max 20x ($200/month): Heavy usage, complex projects</a:t>
            </a:r>
          </a:p>
          <a:p>
            <a:pPr marL="365760" indent="-182880" algn="l">
              <a:buChar char="•"/>
            </a:pPr>
            <a:r>
              <a:t>Usage shared across Claude web, desktop, and Code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The statusline shows real-time data.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model.display_name: Current model</a:t>
            </a:r>
          </a:p>
          <a:p>
            <a:pPr marL="365760" indent="-182880" algn="l">
              <a:buChar char="•"/>
            </a:pPr>
            <a:r>
              <a:t>tokens.input / tokens.output: Token counts</a:t>
            </a:r>
          </a:p>
          <a:p>
            <a:pPr marL="365760" indent="-182880" algn="l">
              <a:buChar char="•"/>
            </a:pPr>
            <a:r>
              <a:t>cost.current / cost.total: Cost tracking</a:t>
            </a:r>
          </a:p>
          <a:p>
            <a:pPr marL="365760" indent="-182880" algn="l">
              <a:buChar char="•"/>
            </a:pPr>
            <a:r>
              <a:t>Setup: /statusline show the model name and context usage percentage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/status shows session info and usage.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7391" y="1510234"/>
            <a:ext cx="5943600" cy="4648200"/>
          </a:xfrm>
        </p:spPr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Status tab: Version, session ID, model, MCP servers, memory</a:t>
            </a:r>
          </a:p>
          <a:p>
            <a:pPr marL="365760" indent="-182880" algn="l">
              <a:buChar char="•"/>
            </a:pPr>
            <a:r>
              <a:t>Config tab: Preferences, theme, checkpoints</a:t>
            </a:r>
          </a:p>
          <a:p>
            <a:pPr marL="365760" indent="-182880" algn="l">
              <a:buChar char="•"/>
            </a:pPr>
            <a:r>
              <a:t>Usage tab: Context percentage, weekly limits</a:t>
            </a:r>
          </a:p>
          <a:p>
            <a:pPr marL="365760" indent="-182880" algn="l">
              <a:buChar char="•"/>
            </a:pPr>
            <a:r>
              <a:t>[Figure: status-tab-status.png]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  <p:pic>
        <p:nvPicPr>
          <p:cNvPr id="5" name="Picture 4" descr="Slide027-status-tab-stat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029200" cy="40005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CLAUDE.md provides persistent context.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# Project Name → ## Tech Stack → ## Commands → ## Conventions</a:t>
            </a:r>
          </a:p>
          <a:p>
            <a:pPr marL="365760" indent="-182880" algn="l">
              <a:buChar char="•"/>
            </a:pPr>
            <a:r>
              <a:t>Hierarchy: ~/.claude/ → parent → project → subdirectory</a:t>
            </a:r>
          </a:p>
          <a:p>
            <a:pPr marL="365760" indent="-182880" algn="l">
              <a:buChar char="•"/>
            </a:pPr>
            <a:r>
              <a:t>The /init command generates a starter file</a:t>
            </a:r>
          </a:p>
          <a:p>
            <a:pPr marL="365760" indent="-182880" algn="l">
              <a:buChar char="•"/>
            </a:pPr>
            <a:r>
              <a:t>Updates compound over sessions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Four permission modes are available.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default: Prompts for first use of each tool</a:t>
            </a:r>
          </a:p>
          <a:p>
            <a:pPr marL="365760" indent="-182880" algn="l">
              <a:buChar char="•"/>
            </a:pPr>
            <a:r>
              <a:t>acceptEdits: Auto-accepts file edits for session</a:t>
            </a:r>
          </a:p>
          <a:p>
            <a:pPr marL="365760" indent="-182880" algn="l">
              <a:buChar char="•"/>
            </a:pPr>
            <a:r>
              <a:t>plan: Read-only analysis, no modifications</a:t>
            </a:r>
          </a:p>
          <a:p>
            <a:pPr marL="365760" indent="-182880" algn="l">
              <a:buChar char="•"/>
            </a:pPr>
            <a:r>
              <a:t>bypassPermissions: Skips all prompts (safe environment only)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Granular rules provide fine control.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allow: ["Bash(npm run test:*)", "Bash(git:*)"]</a:t>
            </a:r>
          </a:p>
          <a:p>
            <a:pPr marL="365760" indent="-182880" algn="l">
              <a:buChar char="•"/>
            </a:pPr>
            <a:r>
              <a:t>deny: ["Read(./.env)", "Read(**/*.key)"]</a:t>
            </a:r>
          </a:p>
          <a:p>
            <a:pPr marL="365760" indent="-182880" algn="l">
              <a:buChar char="•"/>
            </a:pPr>
            <a:r>
              <a:t>ask: ["Bash(git push:*)", "Bash(rm:*)"]</a:t>
            </a:r>
          </a:p>
          <a:p>
            <a:pPr marL="365760" indent="-182880" algn="l">
              <a:buChar char="•"/>
            </a:pPr>
            <a:r>
              <a:t>Evaluation order: deny → allow → ask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Hooks run scripts on tool events.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PreToolUse: Run validation before tool executes</a:t>
            </a:r>
          </a:p>
          <a:p>
            <a:pPr marL="365760" indent="-182880" algn="l">
              <a:buChar char="•"/>
            </a:pPr>
            <a:r>
              <a:t>PostToolUse: Process results after tool completes</a:t>
            </a:r>
          </a:p>
          <a:p>
            <a:pPr marL="365760" indent="-182880" algn="l">
              <a:buChar char="•"/>
            </a:pPr>
            <a:r>
              <a:t>PermissionRequest: Custom permission logic</a:t>
            </a:r>
          </a:p>
          <a:p>
            <a:pPr marL="365760" indent="-182880" algn="l">
              <a:buChar char="•"/>
            </a:pPr>
            <a:r>
              <a:t>Can block, modify, or auto-approve based on custom logic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Three elements create security risk.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1. Access to private data (env vars, credentials)</a:t>
            </a:r>
          </a:p>
          <a:p>
            <a:pPr marL="365760" indent="-182880" algn="l">
              <a:buChar char="•"/>
            </a:pPr>
            <a:r>
              <a:t>2. Exposure to untrusted content (web pages, user input)</a:t>
            </a:r>
          </a:p>
          <a:p>
            <a:pPr marL="365760" indent="-182880" algn="l">
              <a:buChar char="•"/>
            </a:pPr>
            <a:r>
              <a:t>3. External communication ability (network access)</a:t>
            </a:r>
          </a:p>
          <a:p>
            <a:pPr marL="365760" indent="-182880" algn="l">
              <a:buChar char="•"/>
            </a:pPr>
            <a:r>
              <a:t>AI cannot reliably detect prompt injection—architecture must prevent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Section 4: Cursor vs Alternatives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Comparing tools for different workflows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Cursor is an assistant; Claude Code is an agent.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Cursor: Enhanced IDE, GUI (VS Code fork), User-selectable model</a:t>
            </a:r>
          </a:p>
          <a:p>
            <a:pPr marL="365760" indent="-182880" algn="l">
              <a:buChar char="•"/>
            </a:pPr>
            <a:r>
              <a:t>Claude Code: Autonomous Agent, CLI/Terminal, Claude (optimized)</a:t>
            </a:r>
          </a:p>
          <a:p>
            <a:pPr marL="365760" indent="-182880" algn="l">
              <a:buChar char="•"/>
            </a:pPr>
            <a:r>
              <a:t>Cursor: User-initiated execution, IDE-provided context</a:t>
            </a:r>
          </a:p>
          <a:p>
            <a:pPr marL="365760" indent="-182880" algn="l">
              <a:buChar char="•"/>
            </a:pPr>
            <a:r>
              <a:t>Claude Code: Autonomous execution, Full filesystem + shell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Choose based on how you think.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Cursor excels at: Quick inline edits, code explanation, GUI preference</a:t>
            </a:r>
          </a:p>
          <a:p>
            <a:pPr marL="365760" indent="-182880" algn="l">
              <a:buChar char="•"/>
            </a:pPr>
            <a:r>
              <a:t>Claude Code excels at: Multi-file refactoring, autonomous tasks</a:t>
            </a:r>
          </a:p>
          <a:p>
            <a:pPr marL="365760" indent="-182880" algn="l">
              <a:buChar char="•"/>
            </a:pPr>
            <a:r>
              <a:t>Claude Code excels at: Pipeline automation, shell access tasks</a:t>
            </a:r>
          </a:p>
          <a:p>
            <a:pPr marL="365760" indent="-182880" algn="l">
              <a:buChar char="•"/>
            </a:pPr>
            <a:r>
              <a:t>Many developers use both for different contexts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Alternatives offer different trade-offs.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OpenCode: 75+ providers, free — Best for budget, model flexibility</a:t>
            </a:r>
          </a:p>
          <a:p>
            <a:pPr marL="365760" indent="-182880" algn="l">
              <a:buChar char="•"/>
            </a:pPr>
            <a:r>
              <a:t>Aider: Code graph, git integration — Best for monorepos, explicit control</a:t>
            </a:r>
          </a:p>
          <a:p>
            <a:pPr marL="365760" indent="-182880" algn="l">
              <a:buChar char="•"/>
            </a:pPr>
            <a:r>
              <a:t>Gemini CLI: 1M context, free tier — Best for Google Cloud, docs tasks</a:t>
            </a:r>
          </a:p>
          <a:p>
            <a:pPr marL="365760" indent="-182880" algn="l">
              <a:buChar char="•"/>
            </a:pPr>
            <a:r>
              <a:t>Codex CLI: GitHub Actions — Best for CI/CD integration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Claude Code leads SWE-bench at 80.9%.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Claude Code + Opus 4.5: 80.9%</a:t>
            </a:r>
          </a:p>
          <a:p>
            <a:pPr marL="365760" indent="-182880" algn="l">
              <a:buChar char="•"/>
            </a:pPr>
            <a:r>
              <a:t>Aider: 67%</a:t>
            </a:r>
          </a:p>
          <a:p>
            <a:pPr marL="365760" indent="-182880" algn="l">
              <a:buChar char="•"/>
            </a:pPr>
            <a:r>
              <a:t>Cline: 63%</a:t>
            </a:r>
          </a:p>
          <a:p>
            <a:pPr marL="365760" indent="-182880" algn="l">
              <a:buChar char="•"/>
            </a:pPr>
            <a:r>
              <a:t>Gemini 2.5 Pro: 63.8%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Section 5: Demo &amp; Future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Live demonstration and what's coming next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This presentation demonstrates the workflow.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CLAUDE.md (instructions) → scratch/SCRATCH.md (raw notes)</a:t>
            </a:r>
          </a:p>
          <a:p>
            <a:pPr marL="365760" indent="-182880" algn="l">
              <a:buChar char="•"/>
            </a:pPr>
            <a:r>
              <a:t>→ docs/topics/*.md (organized knowledge)</a:t>
            </a:r>
          </a:p>
          <a:p>
            <a:pPr marL="365760" indent="-182880" algn="l">
              <a:buChar char="•"/>
            </a:pPr>
            <a:r>
              <a:t>→ docs/NARRATIVE.md → docs/PRESENTATION.md</a:t>
            </a:r>
          </a:p>
          <a:p>
            <a:pPr marL="365760" indent="-182880" algn="l">
              <a:buChar char="•"/>
            </a:pPr>
            <a:r>
              <a:t>→ *.pptx (Skills-generated output)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Commits document the collaboration.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Initial scaffolding</a:t>
            </a:r>
          </a:p>
          <a:p>
            <a:pPr marL="365760" indent="-182880" algn="l">
              <a:buChar char="•"/>
            </a:pPr>
            <a:r>
              <a:t>Phase 1: Research compilation</a:t>
            </a:r>
          </a:p>
          <a:p>
            <a:pPr marL="365760" indent="-182880" algn="l">
              <a:buChar char="•"/>
            </a:pPr>
            <a:r>
              <a:t>Additional research: permissions, alternatives</a:t>
            </a:r>
          </a:p>
          <a:p>
            <a:pPr marL="365760" indent="-182880" algn="l">
              <a:buChar char="•"/>
            </a:pPr>
            <a:r>
              <a:t>Narrative structure → Slide outline → PPTX generation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Let us see Claude Code in action.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Show /status, /statusline commands</a:t>
            </a:r>
          </a:p>
          <a:p>
            <a:pPr marL="365760" indent="-182880" algn="l">
              <a:buChar char="•"/>
            </a:pPr>
            <a:r>
              <a:t>Install a skill via /plugin</a:t>
            </a:r>
          </a:p>
          <a:p>
            <a:pPr marL="365760" indent="-182880" algn="l">
              <a:buChar char="•"/>
            </a:pPr>
            <a:r>
              <a:t>Run /init on a sample project</a:t>
            </a:r>
          </a:p>
          <a:p>
            <a:pPr marL="365760" indent="-182880" algn="l">
              <a:buChar char="•"/>
            </a:pPr>
            <a:r>
              <a:t>Simple code modification task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Ralph-Wiggum treats failure as data.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7391" y="1510234"/>
            <a:ext cx="5943600" cy="4648200"/>
          </a:xfrm>
        </p:spPr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A simple while loop that feeds an AI agent a prompt until completion</a:t>
            </a:r>
          </a:p>
          <a:p>
            <a:pPr marL="365760" indent="-182880" algn="l">
              <a:buChar char="•"/>
            </a:pPr>
            <a:r>
              <a:t>Deterministic stopping criteria (not "try once and fail")</a:t>
            </a:r>
          </a:p>
          <a:p>
            <a:pPr marL="365760" indent="-182880" algn="l">
              <a:buChar char="•"/>
            </a:pPr>
            <a:r>
              <a:t>Failure-as-data philosophy: setbacks guide refinement</a:t>
            </a:r>
          </a:p>
          <a:p>
            <a:pPr marL="365760" indent="-182880" algn="l">
              <a:buChar char="•"/>
            </a:pPr>
            <a:r>
              <a:t>Emerging: Overnight automation, parallel loops, BMAD-METHOD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  <p:pic>
        <p:nvPicPr>
          <p:cNvPr id="5" name="Picture 4" descr="Slide042-ralph-wiggum-awesomeclau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029200" cy="2922372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The future is here—adoption is key.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Old: Write code myself → New: Design workflows that write code</a:t>
            </a:r>
          </a:p>
          <a:p>
            <a:pPr marL="365760" indent="-182880" algn="l">
              <a:buChar char="•"/>
            </a:pPr>
            <a:r>
              <a:t>Old: One-shot prompts → New: Iterative loops until done</a:t>
            </a:r>
          </a:p>
          <a:p>
            <a:pPr marL="365760" indent="-182880" algn="l">
              <a:buChar char="•"/>
            </a:pPr>
            <a:r>
              <a:t>Old: Static instructions → New: Continuously improved artifacts</a:t>
            </a:r>
          </a:p>
          <a:p>
            <a:pPr marL="365760" indent="-182880" algn="l">
              <a:buChar char="•"/>
            </a:pPr>
            <a:r>
              <a:t>Start with CLAUDE.md on one project, refine over 5-10 sessions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Here are the key takeaways.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Claude Code = LLM + filesystem access = general agent</a:t>
            </a:r>
          </a:p>
          <a:p>
            <a:pPr marL="365760" indent="-182880" algn="l">
              <a:buChar char="•"/>
            </a:pPr>
            <a:r>
              <a:t>Workflows compound—every CLAUDE.md update makes the system smarter</a:t>
            </a:r>
          </a:p>
          <a:p>
            <a:pPr marL="365760" indent="-182880" algn="l">
              <a:buChar char="•"/>
            </a:pPr>
            <a:r>
              <a:t>Context engineering is the fundamental skill</a:t>
            </a:r>
          </a:p>
          <a:p>
            <a:pPr marL="365760" indent="-182880" algn="l">
              <a:buChar char="•"/>
            </a:pPr>
            <a:r>
              <a:t>Parallelization via git worktree multiplies efficiency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Here are resources to get started.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Official: code.claude.com/docs</a:t>
            </a:r>
          </a:p>
          <a:p>
            <a:pPr marL="365760" indent="-182880" algn="l">
              <a:buChar char="•"/>
            </a:pPr>
            <a:r>
              <a:t>Course: DeepLearning.ai Claude Code course</a:t>
            </a:r>
          </a:p>
          <a:p>
            <a:pPr marL="365760" indent="-182880" algn="l">
              <a:buChar char="•"/>
            </a:pPr>
            <a:r>
              <a:t>Skills: github.com/anthropics/skills</a:t>
            </a:r>
          </a:p>
          <a:p>
            <a:pPr marL="365760" indent="-182880" algn="l">
              <a:buChar char="•"/>
            </a:pPr>
            <a:r>
              <a:t>Scientific: K-Dense-AI/claude-scientific-skills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Questions?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How might this change our team's workflows?</a:t>
            </a:r>
          </a:p>
          <a:p>
            <a:pPr marL="365760" indent="-182880" algn="l">
              <a:buChar char="•"/>
            </a:pPr>
            <a:r>
              <a:t>What tasks would benefit most from agent automation?</a:t>
            </a:r>
          </a:p>
          <a:p>
            <a:pPr marL="365760" indent="-182880" algn="l">
              <a:buChar char="•"/>
            </a:pPr>
            <a:r>
              <a:t>Security considerations for our environment</a:t>
            </a:r>
          </a:p>
          <a:p>
            <a:pPr marL="365760" indent="-182880" algn="l">
              <a:buChar char="•"/>
            </a:pPr>
            <a:r>
              <a:t>Skill development for our specific use cases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Claude Code uses only four core tools.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Read: File contents, images, PDFs</a:t>
            </a:r>
          </a:p>
          <a:p>
            <a:pPr marL="365760" indent="-182880" algn="l">
              <a:buChar char="•"/>
            </a:pPr>
            <a:r>
              <a:t>Write: Create new files</a:t>
            </a:r>
          </a:p>
          <a:p>
            <a:pPr marL="365760" indent="-182880" algn="l">
              <a:buChar char="•"/>
            </a:pPr>
            <a:r>
              <a:t>Edit: String replacement in files</a:t>
            </a:r>
          </a:p>
          <a:p>
            <a:pPr marL="365760" indent="-182880" algn="l">
              <a:buChar char="•"/>
            </a:pPr>
            <a:r>
              <a:t>Bash: Shell command execution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MCP servers extend capabilities.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/plugin install @anthropic-ai/mcp-server-github</a:t>
            </a:r>
          </a:p>
          <a:p>
            <a:pPr marL="365760" indent="-182880" algn="l">
              <a:buChar char="•"/>
            </a:pPr>
            <a:r>
              <a:t>/plugin install @anthropic-ai/mcp-server-context7</a:t>
            </a:r>
          </a:p>
          <a:p>
            <a:pPr marL="365760" indent="-182880" algn="l">
              <a:buChar char="•"/>
            </a:pPr>
            <a:r>
              <a:t>Available servers: GitHub, databases, APIs</a:t>
            </a:r>
          </a:p>
          <a:p>
            <a:pPr marL="365760" indent="-182880" algn="l">
              <a:buChar char="•"/>
            </a:pPr>
            <a:r>
              <a:t>Trade-off: Convenience vs. context window overhead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Gemini CLI offers 1M token context.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1 million token context window</a:t>
            </a:r>
          </a:p>
          <a:p>
            <a:pPr marL="365760" indent="-182880" algn="l">
              <a:buChar char="•"/>
            </a:pPr>
            <a:r>
              <a:t>60 requests/minute, 1000/day (free)</a:t>
            </a:r>
          </a:p>
          <a:p>
            <a:pPr marL="365760" indent="-182880" algn="l">
              <a:buChar char="•"/>
            </a:pPr>
            <a:r>
              <a:t>Deep Google Cloud integration</a:t>
            </a:r>
          </a:p>
          <a:p>
            <a:pPr marL="365760" indent="-182880" algn="l">
              <a:buChar char="•"/>
            </a:pPr>
            <a:r>
              <a:t>Lower SWE-bench scores than Claude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ck">
  <a:themeElements>
    <a:clrScheme name="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0A89D"/>
      </a:accent2>
      <a:accent3>
        <a:srgbClr val="1DB100"/>
      </a:accent3>
      <a:accent4>
        <a:srgbClr val="F8BA00"/>
      </a:accent4>
      <a:accent5>
        <a:srgbClr val="EE220C"/>
      </a:accent5>
      <a:accent6>
        <a:srgbClr val="CB297B"/>
      </a:accent6>
      <a:hlink>
        <a:srgbClr val="0000FF"/>
      </a:hlink>
      <a:folHlink>
        <a:srgbClr val="FF00F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lumOff val="13529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59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Black">
  <a:themeElements>
    <a:clrScheme name="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0A89D"/>
      </a:accent2>
      <a:accent3>
        <a:srgbClr val="1DB100"/>
      </a:accent3>
      <a:accent4>
        <a:srgbClr val="F8BA00"/>
      </a:accent4>
      <a:accent5>
        <a:srgbClr val="EE220C"/>
      </a:accent5>
      <a:accent6>
        <a:srgbClr val="CB297B"/>
      </a:accent6>
      <a:hlink>
        <a:srgbClr val="0000FF"/>
      </a:hlink>
      <a:folHlink>
        <a:srgbClr val="FF00FF"/>
      </a:folHlink>
    </a:clrScheme>
    <a:fontScheme name="Black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lumOff val="13529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59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8D000A7A8EA4549909635EE44265AE2" ma:contentTypeVersion="12" ma:contentTypeDescription="Create a new document." ma:contentTypeScope="" ma:versionID="7f357fbe57b84af1bdddcd22c912bac7">
  <xsd:schema xmlns:xsd="http://www.w3.org/2001/XMLSchema" xmlns:xs="http://www.w3.org/2001/XMLSchema" xmlns:p="http://schemas.microsoft.com/office/2006/metadata/properties" xmlns:ns2="baa02956-e5b0-401a-adb6-d3ab856a8db1" xmlns:ns3="758526ea-ff42-49f4-966e-8b92dfb8c37c" targetNamespace="http://schemas.microsoft.com/office/2006/metadata/properties" ma:root="true" ma:fieldsID="f01aca49933565aaf8490f47588de525" ns2:_="" ns3:_="">
    <xsd:import namespace="baa02956-e5b0-401a-adb6-d3ab856a8db1"/>
    <xsd:import namespace="758526ea-ff42-49f4-966e-8b92dfb8c37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a02956-e5b0-401a-adb6-d3ab856a8d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c1fcaec3-bbe8-47cb-8230-d56e5e00eeb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8526ea-ff42-49f4-966e-8b92dfb8c37c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8dab7eb4-bfd3-4979-82d9-0ddc6ac1411b}" ma:internalName="TaxCatchAll" ma:showField="CatchAllData" ma:web="758526ea-ff42-49f4-966e-8b92dfb8c37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aa02956-e5b0-401a-adb6-d3ab856a8db1">
      <Terms xmlns="http://schemas.microsoft.com/office/infopath/2007/PartnerControls"/>
    </lcf76f155ced4ddcb4097134ff3c332f>
    <TaxCatchAll xmlns="758526ea-ff42-49f4-966e-8b92dfb8c37c" xsi:nil="true"/>
  </documentManagement>
</p:properties>
</file>

<file path=customXml/itemProps1.xml><?xml version="1.0" encoding="utf-8"?>
<ds:datastoreItem xmlns:ds="http://schemas.openxmlformats.org/officeDocument/2006/customXml" ds:itemID="{0A62184A-FEE7-42AA-86BE-4760650221E9}">
  <ds:schemaRefs>
    <ds:schemaRef ds:uri="758526ea-ff42-49f4-966e-8b92dfb8c37c"/>
    <ds:schemaRef ds:uri="baa02956-e5b0-401a-adb6-d3ab856a8db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F04B941D-E84F-47C8-84C7-8C66135B4CA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517E194-3F2D-4BC4-9EAF-A0569BAF4335}">
  <ds:schemaRefs>
    <ds:schemaRef ds:uri="baa02956-e5b0-401a-adb6-d3ab856a8db1"/>
    <ds:schemaRef ds:uri="http://purl.org/dc/elements/1.1/"/>
    <ds:schemaRef ds:uri="http://schemas.openxmlformats.org/package/2006/metadata/core-properties"/>
    <ds:schemaRef ds:uri="http://schemas.microsoft.com/office/2006/documentManagement/types"/>
    <ds:schemaRef ds:uri="758526ea-ff42-49f4-966e-8b92dfb8c37c"/>
    <ds:schemaRef ds:uri="http://purl.org/dc/terms/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103</Words>
  <Application>Microsoft Macintosh PowerPoint</Application>
  <PresentationFormat>Widescreen</PresentationFormat>
  <Paragraphs>34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Helvetica</vt:lpstr>
      <vt:lpstr>Helvetica Neue</vt:lpstr>
      <vt:lpstr>Helvetica Neue Light</vt:lpstr>
      <vt:lpstr>Black</vt:lpstr>
      <vt:lpstr>Claude Code Intro</vt:lpstr>
      <vt:lpstr>Agenda</vt:lpstr>
      <vt:lpstr>Jotting down some ideas</vt:lpstr>
      <vt:lpstr>PowerPoint Presentation</vt:lpstr>
      <vt:lpstr>PowerPoint Presentation</vt:lpstr>
      <vt:lpstr>Hooks</vt:lpstr>
      <vt:lpstr>Claude Code Plans</vt:lpstr>
      <vt:lpstr>Headless mode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leon weinreb</dc:creator>
  <cp:lastModifiedBy>changhee@somite.ai</cp:lastModifiedBy>
  <cp:revision>15</cp:revision>
  <dcterms:modified xsi:type="dcterms:W3CDTF">2026-01-14T05:30:20Z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0x010100C8D000A7A8EA4549909635EE44265AE2</vt:lpwstr>
  </property>
  <property fmtid="{D5CDD505-2E9C-101B-9397-08002B2CF9AE}" pid="3" name="MediaServiceImageTags">
    <vt:lpwstr/>
  </property>
</Properties>
</file>