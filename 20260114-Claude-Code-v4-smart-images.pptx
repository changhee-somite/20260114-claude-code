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56"/>
  </p:notesMasterIdLst>
  <p:handoutMasterIdLst>
    <p:handoutMasterId r:id="rId57"/>
  </p:handoutMasterIdLst>
  <p:sldIdLst>
    <p:sldId id="343" r:id="rId5"/>
    <p:sldId id="344" r:id="rId6"/>
    <p:sldId id="351" r:id="rId7"/>
    <p:sldId id="352" r:id="rId8"/>
    <p:sldId id="353" r:id="rId9"/>
    <p:sldId id="354" r:id="rId10"/>
    <p:sldId id="355" r:id="rId11"/>
    <p:sldId id="356" r:id="rId12"/>
    <p:sldId id="359" r:id="rId13"/>
    <p:sldId id="357" r:id="rId14"/>
    <p:sldId id="358" r:id="rId15"/>
    <p:sldId id="360" r:id="rId16"/>
    <p:sldId id="361" r:id="rId17"/>
    <p:sldId id="362" r:id="rId18"/>
    <p:sldId id="398" r:id="rId19"/>
    <p:sldId id="363" r:id="rId20"/>
    <p:sldId id="364" r:id="rId21"/>
    <p:sldId id="365" r:id="rId22"/>
    <p:sldId id="366" r:id="rId23"/>
    <p:sldId id="367" r:id="rId24"/>
    <p:sldId id="368" r:id="rId25"/>
    <p:sldId id="369" r:id="rId26"/>
    <p:sldId id="370" r:id="rId27"/>
    <p:sldId id="371" r:id="rId28"/>
    <p:sldId id="372" r:id="rId29"/>
    <p:sldId id="373" r:id="rId30"/>
    <p:sldId id="374" r:id="rId31"/>
    <p:sldId id="375" r:id="rId32"/>
    <p:sldId id="376" r:id="rId33"/>
    <p:sldId id="377" r:id="rId34"/>
    <p:sldId id="378" r:id="rId35"/>
    <p:sldId id="379" r:id="rId36"/>
    <p:sldId id="380" r:id="rId37"/>
    <p:sldId id="381" r:id="rId38"/>
    <p:sldId id="382" r:id="rId39"/>
    <p:sldId id="383" r:id="rId40"/>
    <p:sldId id="384" r:id="rId41"/>
    <p:sldId id="385" r:id="rId42"/>
    <p:sldId id="386" r:id="rId43"/>
    <p:sldId id="387" r:id="rId44"/>
    <p:sldId id="388" r:id="rId45"/>
    <p:sldId id="389" r:id="rId46"/>
    <p:sldId id="390" r:id="rId47"/>
    <p:sldId id="391" r:id="rId48"/>
    <p:sldId id="392" r:id="rId49"/>
    <p:sldId id="393" r:id="rId50"/>
    <p:sldId id="399" r:id="rId51"/>
    <p:sldId id="394" r:id="rId52"/>
    <p:sldId id="395" r:id="rId53"/>
    <p:sldId id="396" r:id="rId54"/>
    <p:sldId id="397" r:id="rId55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521415D9-36F7-43E2-AB2F-B90AF26B5E84}">
      <p14:sectionLst xmlns:p14="http://schemas.microsoft.com/office/powerpoint/2010/main">
        <p14:section name="Default Section" id="{9D01FFA6-525C-784E-8A01-A0575A0AFB5C}">
          <p14:sldIdLst>
            <p14:sldId id="343"/>
            <p14:sldId id="344"/>
          </p14:sldIdLst>
        </p14:section>
        <p14:section name="Section 1 Paradigm shift" id="{B5C3DBD5-B372-2042-A94B-EC90ECF33E20}">
          <p14:sldIdLst>
            <p14:sldId id="351"/>
            <p14:sldId id="352"/>
            <p14:sldId id="353"/>
            <p14:sldId id="354"/>
            <p14:sldId id="355"/>
            <p14:sldId id="356"/>
            <p14:sldId id="359"/>
            <p14:sldId id="357"/>
            <p14:sldId id="358"/>
          </p14:sldIdLst>
        </p14:section>
        <p14:section name="Section 2 Context Engineering" id="{6D1DB785-4D28-D041-900C-41589E8A7DFE}">
          <p14:sldIdLst>
            <p14:sldId id="360"/>
            <p14:sldId id="361"/>
            <p14:sldId id="362"/>
            <p14:sldId id="398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</p14:sldIdLst>
        </p14:section>
        <p14:section name="Section 3: Getting started" id="{855109F2-AEE0-1945-8457-3E1734315D1F}">
          <p14:sldIdLst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</p14:sldIdLst>
        </p14:section>
        <p14:section name="Section 4 vs Cursor, Alternatives" id="{3BC931D8-443A-DC43-8732-89A3A3D88371}">
          <p14:sldIdLst>
            <p14:sldId id="381"/>
            <p14:sldId id="382"/>
            <p14:sldId id="383"/>
            <p14:sldId id="384"/>
            <p14:sldId id="385"/>
          </p14:sldIdLst>
        </p14:section>
        <p14:section name="Section 5 Demo &amp; Future" id="{1C11F3F5-FDBA-CF4D-94BE-C3FB13E4FAE5}">
          <p14:sldIdLst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9"/>
            <p14:sldId id="394"/>
          </p14:sldIdLst>
        </p14:section>
        <p14:section name="Appendix" id="{7E07AE63-4047-DA46-90A7-0221BDF07C5D}">
          <p14:sldIdLst>
            <p14:sldId id="395"/>
            <p14:sldId id="396"/>
            <p14:sldId id="3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cha Breakstone" initials="MB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F5B"/>
    <a:srgbClr val="001133"/>
    <a:srgbClr val="000308"/>
    <a:srgbClr val="001A4D"/>
    <a:srgbClr val="00205F"/>
    <a:srgbClr val="16E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20"/>
    <p:restoredTop sz="94723"/>
  </p:normalViewPr>
  <p:slideViewPr>
    <p:cSldViewPr snapToGrid="0">
      <p:cViewPr varScale="1">
        <p:scale>
          <a:sx n="123" d="100"/>
          <a:sy n="123" d="100"/>
        </p:scale>
        <p:origin x="208" y="232"/>
      </p:cViewPr>
      <p:guideLst>
        <p:guide orient="horz" pos="240"/>
        <p:guide pos="3840"/>
        <p:guide pos="240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notesMaster" Target="notesMasters/notesMaster1.xml"/><Relationship Id="rId57" Type="http://schemas.openxmlformats.org/officeDocument/2006/relationships/handoutMaster" Target="handoutMasters/handoutMaster1.xml"/><Relationship Id="rId58" Type="http://schemas.openxmlformats.org/officeDocument/2006/relationships/commentAuthors" Target="commentAuthors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8C4DA5-1F50-07BA-61AB-EC375CAA0C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081F7-2215-2CF4-28B4-9CECFC4AAF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02C26-7A89-43ED-8411-2303B4D0879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E85004-CDBA-4130-C170-DD80721372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524A8-90CF-47B3-629C-01F2E5D97E6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CA07C-3E08-48E7-B2B3-670A1D7D8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89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5" name="Shape 14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1pPr>
    <a:lvl2pPr indent="1143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2pPr>
    <a:lvl3pPr indent="2286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3pPr>
    <a:lvl4pPr indent="3429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4pPr>
    <a:lvl5pPr indent="4572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5pPr>
    <a:lvl6pPr indent="5715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6pPr>
    <a:lvl7pPr indent="6858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7pPr>
    <a:lvl8pPr indent="8001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8pPr>
    <a:lvl9pPr indent="9144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2286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https://</a:t>
            </a:r>
            <a:r>
              <a:rPr lang="en-US" sz="1100" dirty="0" err="1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mike.tech</a:t>
            </a:r>
            <a:r>
              <a:rPr lang="en-US" sz="11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/blog/death-of-software-development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559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Cellular Intelligence did not have a template for comparison slide.</a:t>
            </a:r>
          </a:p>
        </p:txBody>
      </p:sp>
    </p:spTree>
    <p:extLst>
      <p:ext uri="{BB962C8B-B14F-4D97-AF65-F5344CB8AC3E}">
        <p14:creationId xmlns:p14="http://schemas.microsoft.com/office/powerpoint/2010/main" val="26496993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89000" y="3536950"/>
            <a:ext cx="10414000" cy="7937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27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27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27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27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2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0FA663-7383-DBEA-0822-E60A81C633F0}"/>
              </a:ext>
            </a:extLst>
          </p:cNvPr>
          <p:cNvSpPr/>
          <p:nvPr userDrawn="1"/>
        </p:nvSpPr>
        <p:spPr>
          <a:xfrm>
            <a:off x="391893" y="1510234"/>
            <a:ext cx="10502900" cy="4663440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Tx/>
              <a:defRPr>
                <a:solidFill>
                  <a:sysClr val="windowText" lastClr="000000"/>
                </a:solidFill>
              </a:defRPr>
            </a:lvl1pPr>
            <a:lvl2pPr>
              <a:buClrTx/>
              <a:defRPr>
                <a:solidFill>
                  <a:sysClr val="windowText" lastClr="000000"/>
                </a:solidFill>
              </a:defRPr>
            </a:lvl2pPr>
            <a:lvl3pPr>
              <a:buClrTx/>
              <a:defRPr>
                <a:solidFill>
                  <a:sysClr val="windowText" lastClr="000000"/>
                </a:solidFill>
              </a:defRPr>
            </a:lvl3pPr>
            <a:lvl4pPr>
              <a:buClrTx/>
              <a:defRPr>
                <a:solidFill>
                  <a:sysClr val="windowText" lastClr="000000"/>
                </a:solidFill>
              </a:defRPr>
            </a:lvl4pPr>
            <a:lvl5pPr>
              <a:buClrTx/>
              <a:defRPr>
                <a:solidFill>
                  <a:sysClr val="windowText" lastClr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748090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608D-4713-EC4E-8282-1C5903FF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03942-D76B-E483-FD9F-5C81E63F7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85425-7D1C-09B7-607F-1A6EFECEA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6D3-DAA8-1045-973E-B04736FFA309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40273-0B5C-173D-2556-D11627A5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E5416-1A1B-9395-6E3C-3A72C99BF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96A5-FD69-DA43-B2E1-3F15D4A7FF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637EA6-3581-4CC5-574C-8C5FC52F2DA3}"/>
              </a:ext>
            </a:extLst>
          </p:cNvPr>
          <p:cNvSpPr txBox="1"/>
          <p:nvPr userDrawn="1"/>
        </p:nvSpPr>
        <p:spPr>
          <a:xfrm>
            <a:off x="9869424" y="13414"/>
            <a:ext cx="2322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>
                <a:solidFill>
                  <a:schemeClr val="bg1"/>
                </a:solidFill>
                <a:latin typeface="Helvetica" pitchFamily="2" charset="0"/>
              </a:rPr>
              <a:t>CONFIDENTIAL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C72B28-BA7F-AB94-BC28-D32B4CF83E0C}"/>
              </a:ext>
            </a:extLst>
          </p:cNvPr>
          <p:cNvSpPr/>
          <p:nvPr userDrawn="1"/>
        </p:nvSpPr>
        <p:spPr>
          <a:xfrm>
            <a:off x="838200" y="1146412"/>
            <a:ext cx="10515600" cy="50305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055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00205F"/>
            </a:gs>
            <a:gs pos="7000">
              <a:schemeClr val="bg1"/>
            </a:gs>
          </a:gsLst>
          <a:lin ang="1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86899" y="386899"/>
            <a:ext cx="10502900" cy="60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87391" y="1510234"/>
            <a:ext cx="105029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11895444" y="6542617"/>
            <a:ext cx="29655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C0A49765-7C13-4464-8753-5BEDD4AF8F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A81DF-5627-809F-F7C0-20F4F8BD82D8}"/>
              </a:ext>
            </a:extLst>
          </p:cNvPr>
          <p:cNvSpPr txBox="1"/>
          <p:nvPr userDrawn="1"/>
        </p:nvSpPr>
        <p:spPr>
          <a:xfrm>
            <a:off x="11150048" y="0"/>
            <a:ext cx="1041952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1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CONFIDENTIAL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CA1D80-2B1F-14C2-193E-5A3CEC80E93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4356" t="11145" r="84944" b="51846"/>
          <a:stretch>
            <a:fillRect/>
          </a:stretch>
        </p:blipFill>
        <p:spPr>
          <a:xfrm>
            <a:off x="0" y="6540500"/>
            <a:ext cx="422275" cy="289375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4" r:id="rId3"/>
    <p:sldLayoutId id="2147483665" r:id="rId4"/>
  </p:sldLayoutIdLst>
  <p:transition spd="med"/>
  <p:hf hdr="0" ftr="0" dt="0"/>
  <p:txStyles>
    <p:titleStyle>
      <a:lvl1pPr marL="0" marR="0" indent="0" algn="l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FFFFFF"/>
          </a:solidFill>
          <a:uFillTx/>
          <a:latin typeface="Helvetica" pitchFamily="2" charset="0"/>
          <a:ea typeface="+mn-ea"/>
          <a:cs typeface="+mn-cs"/>
          <a:sym typeface="Helvetica Neue Medium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5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5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7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2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0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4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1143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3429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5715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8001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orient="horz" pos="22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A6C8F9-8DD9-00D7-6D2F-2FE379F7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395006"/>
            <a:ext cx="6875187" cy="2324100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Claude Code: From Coding to Workflow 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2522C-1B9A-EB00-6026-62649AE5660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83992" y="3516317"/>
            <a:ext cx="6875187" cy="793750"/>
          </a:xfrm>
        </p:spPr>
        <p:txBody>
          <a:bodyPr>
            <a:normAutofit fontScale="85000" lnSpcReduction="10000"/>
          </a:bodyPr>
          <a:lstStyle/>
          <a:p>
            <a:pPr marL="0" indent="0" algn="l">
              <a:buNone/>
            </a:pPr>
            <a:r>
              <a:rPr dirty="0"/>
              <a:t>ChangHee Lee
Computational Team Lunch &amp; Learn 2026-01-14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E88BA0-9342-F21E-9BC5-D4ECCCFCAC3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805652-B379-F4E2-23B4-1D99A27368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"/>
          <a:stretch>
            <a:fillRect/>
          </a:stretch>
        </p:blipFill>
        <p:spPr>
          <a:xfrm>
            <a:off x="-132" y="5291280"/>
            <a:ext cx="7870548" cy="15667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6B853A-30B4-43ED-6ABC-0C0FB19B2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415" y="395005"/>
            <a:ext cx="4321585" cy="647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7625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Agenda</a:t>
            </a:r>
            <a:endParaRPr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82880" indent="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dirty="0"/>
              <a:t>The Paradigm Shift — From coding to orchestration</a:t>
            </a:r>
          </a:p>
          <a:p>
            <a:pPr marL="182880" indent="0" algn="l">
              <a:buNone/>
            </a:pPr>
            <a:r>
              <a:rPr dirty="0"/>
              <a:t>Context Engineering — The fundamental constraint</a:t>
            </a:r>
          </a:p>
          <a:p>
            <a:pPr marL="182880" indent="0" algn="l">
              <a:buNone/>
            </a:pPr>
            <a:r>
              <a:rPr dirty="0"/>
              <a:t>Getting Started — Installation and configuration</a:t>
            </a:r>
          </a:p>
          <a:p>
            <a:pPr marL="182880" indent="0" algn="l">
              <a:buNone/>
            </a:pPr>
            <a:r>
              <a:rPr lang="en-US" dirty="0"/>
              <a:t>Vs </a:t>
            </a:r>
            <a:r>
              <a:rPr dirty="0"/>
              <a:t>Cursor</a:t>
            </a:r>
            <a:r>
              <a:rPr lang="en-US" dirty="0"/>
              <a:t> and</a:t>
            </a:r>
            <a:r>
              <a:rPr dirty="0"/>
              <a:t> Alternatives — Comparing tools</a:t>
            </a:r>
          </a:p>
          <a:p>
            <a:pPr marL="182880" indent="0" algn="l">
              <a:buNone/>
            </a:pPr>
            <a:r>
              <a:rPr lang="en-US" dirty="0"/>
              <a:t>D</a:t>
            </a:r>
            <a:r>
              <a:rPr dirty="0"/>
              <a:t>emo &amp; Future — Live demo and what's next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1964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1: The Paradigm Shift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From writing code to designing workflows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We are stuck in an old mental model.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Old: Developer writes code line by line</a:t>
            </a:r>
          </a:p>
          <a:p>
            <a:pPr marL="731520" lvl="1" indent="-182880" algn="l">
              <a:buChar char="•"/>
            </a:pPr>
            <a:r>
              <a:t>New: Developer describes outcomes</a:t>
            </a:r>
          </a:p>
          <a:p>
            <a:pPr marL="365760" indent="-182880" algn="l">
              <a:buChar char="•"/>
            </a:pPr>
            <a:r>
              <a:t>Old: IDE assists with autocomplete</a:t>
            </a:r>
          </a:p>
          <a:p>
            <a:pPr marL="731520" lvl="1" indent="-182880" algn="l">
              <a:buChar char="•"/>
            </a:pPr>
            <a:r>
              <a:t>New: Agent plans and executes</a:t>
            </a:r>
          </a:p>
          <a:p>
            <a:pPr marL="365760" indent="-182880" algn="l">
              <a:buChar char="•"/>
            </a:pPr>
            <a:r>
              <a:t>Old: Human is the executor</a:t>
            </a:r>
          </a:p>
          <a:p>
            <a:pPr marL="731520" lvl="1" indent="-182880" algn="l">
              <a:buChar char="•"/>
            </a:pPr>
            <a:r>
              <a:t>New: Human supervises and validates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Engineers now design systems.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6032526" cy="4648200"/>
          </a:xfrm>
        </p:spPr>
        <p:txBody>
          <a:bodyPr>
            <a:normAutofit lnSpcReduction="10000"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One person built a </a:t>
            </a:r>
            <a:r>
              <a:rPr dirty="0" err="1"/>
              <a:t>Polymarket</a:t>
            </a:r>
            <a:r>
              <a:rPr dirty="0"/>
              <a:t> tool in 2 hours without writing code</a:t>
            </a:r>
          </a:p>
          <a:p>
            <a:pPr marL="365760" indent="-182880" algn="l">
              <a:buChar char="•"/>
            </a:pPr>
            <a:r>
              <a:rPr dirty="0"/>
              <a:t>The technique mattered more than which AI </a:t>
            </a:r>
            <a:r>
              <a:rPr lang="en-US" dirty="0"/>
              <a:t>model (Opus/Gemini etc.) </a:t>
            </a:r>
            <a:r>
              <a:rPr dirty="0"/>
              <a:t>was used</a:t>
            </a:r>
          </a:p>
          <a:p>
            <a:pPr marL="365760" indent="-182880" algn="l">
              <a:buChar char="•"/>
            </a:pPr>
            <a:r>
              <a:rPr dirty="0"/>
              <a:t>Architecture and process design become primary skills</a:t>
            </a:r>
          </a:p>
          <a:p>
            <a:pPr marL="365760" indent="-182880" algn="l">
              <a:buChar char="•"/>
            </a:pPr>
            <a:r>
              <a:rPr dirty="0"/>
              <a:t>"The outcome is defined by the process, not the model." — </a:t>
            </a:r>
            <a:r>
              <a:rPr dirty="0" err="1"/>
              <a:t>Mike.tech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F56C8219-194F-79C5-972D-78C97A751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123" y="1510234"/>
            <a:ext cx="5563483" cy="4648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963256"/>
            <a:ext cx="4876800" cy="40744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You communicate </a:t>
            </a:r>
            <a:r>
              <a:rPr b="1" i="1" u="sng" dirty="0"/>
              <a:t>intent</a:t>
            </a:r>
            <a:r>
              <a:rPr b="1" dirty="0"/>
              <a:t> to agents.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6908890" cy="4648200"/>
          </a:xfrm>
        </p:spPr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Use XML tags: &lt;task&gt;, &lt;context&gt;, &lt;constraints&gt;, &lt;</a:t>
            </a:r>
            <a:r>
              <a:rPr dirty="0" err="1"/>
              <a:t>output_format</a:t>
            </a:r>
            <a:r>
              <a:rPr dirty="0"/>
              <a:t>&gt;</a:t>
            </a:r>
          </a:p>
          <a:p>
            <a:pPr marL="365760" indent="-182880" algn="l">
              <a:buChar char="•"/>
            </a:pPr>
            <a:r>
              <a:rPr dirty="0"/>
              <a:t>Code-Level: "Write a function that..." → Implementation focus</a:t>
            </a:r>
          </a:p>
          <a:p>
            <a:pPr marL="365760" indent="-182880" algn="l">
              <a:buChar char="•"/>
            </a:pPr>
            <a:r>
              <a:rPr dirty="0"/>
              <a:t>Abstract: "I need to transform X into Y" → Intent focus</a:t>
            </a:r>
          </a:p>
          <a:p>
            <a:pPr marL="365760" indent="-182880" algn="l">
              <a:buChar char="•"/>
            </a:pPr>
            <a:r>
              <a:rPr dirty="0"/>
              <a:t>"It's like I was driving a race car in first gear."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7C100-7A96-C8B9-5334-4D2275770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88" y="1510234"/>
            <a:ext cx="4991912" cy="3509507"/>
          </a:xfrm>
          <a:prstGeom prst="rect">
            <a:avLst/>
          </a:prstGeom>
        </p:spPr>
      </p:pic>
      <p:pic>
        <p:nvPicPr>
          <p:cNvPr id="6" name="Picture 5" descr="Slide006-reddit-xml-structured-promp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2286210"/>
            <a:ext cx="4876800" cy="34285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b="1" dirty="0" err="1"/>
              <a:t>CLAUDE.md</a:t>
            </a:r>
            <a:r>
              <a:rPr b="1" dirty="0"/>
              <a:t> </a:t>
            </a:r>
            <a:r>
              <a:rPr lang="en-US" b="1" dirty="0"/>
              <a:t>/ </a:t>
            </a:r>
            <a:r>
              <a:rPr lang="en-US" b="1" dirty="0" err="1"/>
              <a:t>AGENTS.md</a:t>
            </a:r>
            <a:r>
              <a:rPr lang="en-US" b="1" dirty="0"/>
              <a:t> as improving workflow over time</a:t>
            </a:r>
            <a:endParaRPr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Session 1: Write </a:t>
            </a:r>
            <a:r>
              <a:rPr dirty="0" err="1"/>
              <a:t>CLAUDE.md</a:t>
            </a:r>
            <a:r>
              <a:rPr dirty="0"/>
              <a:t> with basic project context</a:t>
            </a:r>
          </a:p>
          <a:p>
            <a:pPr marL="731520" lvl="1" indent="-182880" algn="l">
              <a:buChar char="•"/>
            </a:pPr>
            <a:r>
              <a:rPr dirty="0"/>
              <a:t>Session 5: Add common commands, conventions, warnings</a:t>
            </a:r>
          </a:p>
          <a:p>
            <a:pPr marL="731520" lvl="1" indent="-182880" algn="l">
              <a:buChar char="•"/>
            </a:pPr>
            <a:r>
              <a:rPr dirty="0"/>
              <a:t>Session 20: Refined skills, custom hooks, team patterns</a:t>
            </a:r>
          </a:p>
          <a:p>
            <a:pPr marL="731520" lvl="1" indent="-182880" algn="l">
              <a:buChar char="•"/>
            </a:pPr>
            <a:r>
              <a:rPr dirty="0"/>
              <a:t>Session 100: Agent works like a trained team member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 descr="A diagram of a compound efficiency&#10;&#10;AI-generated content may be incorrect.">
            <a:extLst>
              <a:ext uri="{FF2B5EF4-FFF2-40B4-BE49-F238E27FC236}">
                <a16:creationId xmlns:a16="http://schemas.microsoft.com/office/drawing/2014/main" id="{01C2D70E-3F9A-5EF7-7F0C-45F4A38D6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994" y="3057107"/>
            <a:ext cx="4984006" cy="332267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2374900"/>
            <a:ext cx="487680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Claude Code is a general agent</a:t>
            </a:r>
            <a:r>
              <a:rPr lang="en-US" b="1" dirty="0"/>
              <a:t>.</a:t>
            </a:r>
            <a:endParaRPr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February 2025: Launch as CLI research preview</a:t>
            </a:r>
          </a:p>
          <a:p>
            <a:pPr marL="365760" indent="-182880" algn="l">
              <a:buChar char="•"/>
            </a:pPr>
            <a:r>
              <a:rPr dirty="0"/>
              <a:t>October 2025: Web launch on </a:t>
            </a:r>
            <a:r>
              <a:rPr dirty="0" err="1"/>
              <a:t>claude.ai</a:t>
            </a:r>
            <a:endParaRPr dirty="0"/>
          </a:p>
          <a:p>
            <a:pPr marL="365760" indent="-182880" algn="l">
              <a:buChar char="•"/>
            </a:pPr>
            <a:r>
              <a:rPr dirty="0"/>
              <a:t>November 2025: $1B revenue run-rate</a:t>
            </a:r>
          </a:p>
          <a:p>
            <a:pPr marL="365760" indent="-182880" algn="l">
              <a:buChar char="•"/>
            </a:pPr>
            <a:r>
              <a:rPr dirty="0"/>
              <a:t>January 2026: Multi-agent infrastructure (v2.1.0)</a:t>
            </a:r>
            <a:endParaRPr lang="en-US" dirty="0"/>
          </a:p>
          <a:p>
            <a:pPr marL="182880" indent="0" algn="l">
              <a:buNone/>
            </a:pPr>
            <a:endParaRPr lang="en-US" dirty="0"/>
          </a:p>
          <a:p>
            <a:pPr marL="182880" indent="0">
              <a:buNone/>
            </a:pPr>
            <a:r>
              <a:rPr lang="en-US" dirty="0"/>
              <a:t>(BAD naming)</a:t>
            </a:r>
          </a:p>
          <a:p>
            <a:pPr marL="182880" indent="0" algn="l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One of its</a:t>
            </a:r>
            <a:r>
              <a:rPr b="1" dirty="0"/>
              <a:t> power comes from simplicity.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No heavyweight protocols needed</a:t>
            </a:r>
          </a:p>
          <a:p>
            <a:pPr marL="365760" indent="-182880" algn="l">
              <a:buChar char="•"/>
            </a:pPr>
            <a:r>
              <a:t>Skills are just markdown files the agent reads</a:t>
            </a:r>
          </a:p>
          <a:p>
            <a:pPr marL="365760" indent="-182880" algn="l">
              <a:buChar char="•"/>
            </a:pPr>
            <a:r>
              <a:t>Four tools (read, write, edit, bash) outperform complex ecosystems</a:t>
            </a:r>
          </a:p>
          <a:p>
            <a:pPr marL="365760" indent="-182880" algn="l">
              <a:buChar char="•"/>
            </a:pPr>
            <a:r>
              <a:t>Outsources hard parts to the LLM harness and computer environment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It automates anything you can type.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File system access (read, write, edit)</a:t>
            </a:r>
          </a:p>
          <a:p>
            <a:pPr marL="365760" indent="-182880" algn="l">
              <a:buChar char="•"/>
            </a:pPr>
            <a:r>
              <a:rPr dirty="0"/>
              <a:t>Command execution (shell access)</a:t>
            </a:r>
          </a:p>
          <a:p>
            <a:pPr marL="365760" indent="-182880" algn="l">
              <a:buChar char="•"/>
            </a:pPr>
            <a:r>
              <a:rPr dirty="0"/>
              <a:t>Context awareness (understands project structure)</a:t>
            </a:r>
          </a:p>
          <a:p>
            <a:pPr marL="365760" indent="-182880" algn="l">
              <a:buChar char="•"/>
            </a:pPr>
            <a:r>
              <a:rPr dirty="0"/>
              <a:t>Autonomous operation (minimal supervision)</a:t>
            </a:r>
          </a:p>
          <a:p>
            <a:pPr marL="365760" indent="-182880" algn="l">
              <a:buChar char="•"/>
            </a:pPr>
            <a:r>
              <a:rPr dirty="0"/>
              <a:t>"Agents are tools in a loop" — Simon Willison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It is an LLM with </a:t>
            </a:r>
            <a:r>
              <a:rPr b="1" u="sng" dirty="0"/>
              <a:t>filesystem access</a:t>
            </a:r>
            <a:r>
              <a:rPr b="1" dirty="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Web Chatbot: Stateless conversations, copy-paste snippets</a:t>
            </a:r>
          </a:p>
          <a:p>
            <a:pPr marL="365760" indent="-182880" algn="l">
              <a:buChar char="•"/>
            </a:pPr>
            <a:r>
              <a:rPr dirty="0"/>
              <a:t>Claude Code: Persistent filesystem access, direct file read/write</a:t>
            </a:r>
          </a:p>
          <a:p>
            <a:pPr marL="365760" indent="-182880" algn="l">
              <a:buChar char="•"/>
            </a:pPr>
            <a:r>
              <a:rPr dirty="0"/>
              <a:t>Web Chatbot: Describe your environment, human executes commands</a:t>
            </a:r>
          </a:p>
          <a:p>
            <a:pPr marL="365760" indent="-182880" algn="l">
              <a:buChar char="•"/>
            </a:pPr>
            <a:r>
              <a:rPr dirty="0"/>
              <a:t>Claude Code: Agent explores and executes autonomously</a:t>
            </a:r>
            <a:endParaRPr lang="en-US" dirty="0"/>
          </a:p>
          <a:p>
            <a:pPr marL="365760" indent="-182880" algn="l">
              <a:buChar char="•"/>
            </a:pPr>
            <a:endParaRPr lang="en-US" dirty="0"/>
          </a:p>
          <a:p>
            <a:pPr marL="182880" indent="0" algn="l">
              <a:buNone/>
            </a:pPr>
            <a:r>
              <a:rPr lang="en-US" dirty="0"/>
              <a:t>Seems mundane difference but has </a:t>
            </a:r>
            <a:r>
              <a:rPr lang="en-US" b="1" u="sng" dirty="0"/>
              <a:t>significant</a:t>
            </a:r>
            <a:r>
              <a:rPr lang="en-US" dirty="0"/>
              <a:t> implications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2: Context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The fundamental constraint and how to work around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O(N²) complexity creates hard limits.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Attention mechanism scales quadratically with sequence length</a:t>
            </a:r>
          </a:p>
          <a:p>
            <a:pPr marL="365760" indent="-182880" algn="l">
              <a:buChar char="•"/>
            </a:pPr>
            <a:r>
              <a:t>Context window is a hard limit on what the model can "see"</a:t>
            </a:r>
          </a:p>
          <a:p>
            <a:pPr marL="365760" indent="-182880" algn="l">
              <a:buChar char="•"/>
            </a:pPr>
            <a:r>
              <a:t>Everything the model knows about your task must fit in this window</a:t>
            </a:r>
          </a:p>
          <a:p>
            <a:pPr marL="365760" indent="-182880" algn="l">
              <a:buChar char="•"/>
            </a:pPr>
            <a:r>
              <a:t>Wasted tokens = reduced capability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Context engineering is the key skill.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Minimal system prompts: &lt;1,000 tokens vs competitors' 10,000+</a:t>
            </a:r>
          </a:p>
          <a:p>
            <a:pPr marL="365760" indent="-182880" algn="l">
              <a:buChar char="•"/>
            </a:pPr>
            <a:r>
              <a:t>File-based planning: External markdown preserves info across sessions</a:t>
            </a:r>
          </a:p>
          <a:p>
            <a:pPr marL="365760" indent="-182880" algn="l">
              <a:buChar char="•"/>
            </a:pPr>
            <a:r>
              <a:t>Progressive disclosure: Load tool docs only when needed</a:t>
            </a:r>
          </a:p>
          <a:p>
            <a:pPr marL="365760" indent="-182880" algn="l">
              <a:buChar char="•"/>
            </a:pPr>
            <a:r>
              <a:t>Pre-session artifacts: Research sessions → implementation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7DD53-921C-11A6-82AF-03DC87BDD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file system provides ”swap” for context for LLM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FB289-D536-13F7-B7AB-4541B89E0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AGENTS.md</a:t>
            </a:r>
            <a:endParaRPr lang="en-US" dirty="0"/>
          </a:p>
          <a:p>
            <a:r>
              <a:rPr lang="en-US" dirty="0" err="1"/>
              <a:t>SKILLs.md</a:t>
            </a:r>
            <a:endParaRPr lang="en-US" dirty="0"/>
          </a:p>
          <a:p>
            <a:endParaRPr lang="en-US" dirty="0"/>
          </a:p>
          <a:p>
            <a:r>
              <a:rPr lang="en-US" dirty="0"/>
              <a:t>Token limits are secondary, but affect the token efficiency! (Subagents)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A2ADC-D254-C04F-2235-182E3945237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 descr="Slide015-status-tab-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707852"/>
            <a:ext cx="4876800" cy="458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85883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/status monitors context in real-time.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6741644" cy="4648200"/>
          </a:xfrm>
        </p:spPr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Current session: percentage of context window used</a:t>
            </a:r>
          </a:p>
          <a:p>
            <a:pPr marL="365760" indent="-182880" algn="l">
              <a:buChar char="•"/>
            </a:pPr>
            <a:r>
              <a:rPr dirty="0"/>
              <a:t>Session reset: when the 5-hour window resets</a:t>
            </a:r>
          </a:p>
          <a:p>
            <a:pPr marL="365760" indent="-182880" algn="l">
              <a:buChar char="•"/>
            </a:pPr>
            <a:r>
              <a:rPr dirty="0"/>
              <a:t>Weekly usage across Opus and Sonnet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B82B2-707C-CD34-E2F9-85AB2C00C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596" y="1510234"/>
            <a:ext cx="4886404" cy="45943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Subagents spawn fresh context windows.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Each subagent gets its own fresh context window</a:t>
            </a:r>
          </a:p>
          <a:p>
            <a:pPr marL="365760" indent="-182880" algn="l">
              <a:buChar char="•"/>
            </a:pPr>
            <a:r>
              <a:t>Example: 36 files ÷ 3 subagents = 12 files each</a:t>
            </a:r>
          </a:p>
          <a:p>
            <a:pPr marL="365760" indent="-182880" algn="l">
              <a:buChar char="•"/>
            </a:pPr>
            <a:r>
              <a:t>Prevents main agent from sequential overload</a:t>
            </a:r>
          </a:p>
          <a:p>
            <a:pPr marL="365760" indent="-182880" algn="l">
              <a:buChar char="•"/>
            </a:pPr>
            <a:r>
              <a:t>Enables parallel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Agentic patterns have emerged.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6253045" cy="4648200"/>
          </a:xfrm>
        </p:spPr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Context &amp; Memory: Context-minimization, dynamic injection</a:t>
            </a:r>
          </a:p>
          <a:p>
            <a:pPr marL="365760" indent="-182880" algn="l">
              <a:buChar char="•"/>
            </a:pPr>
            <a:r>
              <a:rPr dirty="0"/>
              <a:t>Feedback Loops: Self-critique, reflection, spec-as-test</a:t>
            </a:r>
          </a:p>
          <a:p>
            <a:pPr marL="365760" indent="-182880" algn="l">
              <a:buChar char="•"/>
            </a:pPr>
            <a:r>
              <a:rPr dirty="0"/>
              <a:t>Orchestration: Plan-then-execute, phase separation</a:t>
            </a:r>
          </a:p>
          <a:p>
            <a:pPr marL="365760" indent="-182880" algn="l">
              <a:buChar char="•"/>
            </a:pPr>
            <a:r>
              <a:rPr dirty="0"/>
              <a:t>Tool Use: CLI-first, code-over-API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F00EDC-7BA6-8D7A-08D1-BDF0D1807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912" y="1290681"/>
            <a:ext cx="5367743" cy="324846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Skills are markdown with instructions.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6391215" cy="4648200"/>
          </a:xfrm>
        </p:spPr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Just markdown files with YAML metadata</a:t>
            </a:r>
          </a:p>
          <a:p>
            <a:pPr marL="365760" indent="-182880" algn="l">
              <a:buChar char="•"/>
            </a:pPr>
            <a:r>
              <a:rPr dirty="0"/>
              <a:t>Brief summaries scanned before full load</a:t>
            </a:r>
          </a:p>
          <a:p>
            <a:pPr marL="365760" indent="-182880" algn="l">
              <a:buChar char="•"/>
            </a:pPr>
            <a:r>
              <a:rPr dirty="0"/>
              <a:t>Shareable across models and tools</a:t>
            </a:r>
          </a:p>
          <a:p>
            <a:pPr marL="365760" indent="-182880" algn="l">
              <a:buChar char="•"/>
            </a:pPr>
            <a:r>
              <a:rPr dirty="0"/>
              <a:t>No heavyweight protocols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0839C3-C2D5-37A9-9B78-76BA267E3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268" y="1290839"/>
            <a:ext cx="5513732" cy="337575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140+ scientific skills are available.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28+ Scientific databases (OpenAlex, PubMed, ChEMBL, UniProt)</a:t>
            </a:r>
          </a:p>
          <a:p>
            <a:pPr marL="365760" indent="-182880" algn="l">
              <a:buChar char="•"/>
            </a:pPr>
            <a:r>
              <a:t>55+ Python packages (RDKit, Scanpy, PyTorch)</a:t>
            </a:r>
          </a:p>
          <a:p>
            <a:pPr marL="365760" indent="-182880" algn="l">
              <a:buChar char="•"/>
            </a:pPr>
            <a:r>
              <a:t>15+ Scientific integrations (Benchling, DNAnexus)</a:t>
            </a:r>
          </a:p>
          <a:p>
            <a:pPr marL="365760" indent="-182880" algn="l">
              <a:buChar char="•"/>
            </a:pPr>
            <a:r>
              <a:t>Categories: Bioinformatics, Cheminformatics, Clinical Research, ML/AI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MCP can waste 7-9% of context.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Anti-MCP: Tools you never use still consume tokens</a:t>
            </a:r>
          </a:p>
          <a:p>
            <a:pPr marL="731520" lvl="1" indent="-182880" algn="l">
              <a:buChar char="•"/>
            </a:pPr>
            <a:r>
              <a:t>Alternative: CLI tools with README loaded on-demand</a:t>
            </a:r>
          </a:p>
          <a:p>
            <a:pPr marL="365760" indent="-182880" algn="l">
              <a:buChar char="•"/>
            </a:pPr>
            <a:r>
              <a:t>Pro-MCP: Convenience of always-available tools</a:t>
            </a:r>
          </a:p>
          <a:p>
            <a:pPr marL="365760" indent="-182880" algn="l">
              <a:buChar char="•"/>
            </a:pPr>
            <a:r>
              <a:t>Trade-off: Convenience vs. context efficiency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 descr="Slide021-tweet-boris-cherny-parallel-clau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379" y="1371600"/>
            <a:ext cx="4489241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Git worktree enables parallel sessions.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5635603" cy="4648200"/>
          </a:xfrm>
        </p:spPr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git </a:t>
            </a:r>
            <a:r>
              <a:rPr dirty="0" err="1"/>
              <a:t>worktree</a:t>
            </a:r>
            <a:r>
              <a:rPr dirty="0"/>
              <a:t> add ../feature-auth feature/auth</a:t>
            </a:r>
          </a:p>
          <a:p>
            <a:pPr marL="365760" indent="-182880" algn="l">
              <a:buChar char="•"/>
            </a:pPr>
            <a:r>
              <a:rPr dirty="0"/>
              <a:t>Run Claude Code in each </a:t>
            </a:r>
            <a:r>
              <a:rPr dirty="0" err="1"/>
              <a:t>worktree</a:t>
            </a:r>
            <a:r>
              <a:rPr dirty="0"/>
              <a:t> (separate terminals)</a:t>
            </a:r>
          </a:p>
          <a:p>
            <a:pPr marL="365760" indent="-182880" algn="l">
              <a:buChar char="•"/>
            </a:pPr>
            <a:r>
              <a:rPr dirty="0"/>
              <a:t>Single Session: Sequential task completion, one context</a:t>
            </a:r>
          </a:p>
          <a:p>
            <a:pPr marL="365760" indent="-182880" algn="l">
              <a:buChar char="•"/>
            </a:pPr>
            <a:r>
              <a:rPr dirty="0"/>
              <a:t>Parallel Sessions: Simultaneous progress, multiple fresh contexts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E2471-4403-1844-8904-8FAAA4976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203" y="1193647"/>
            <a:ext cx="4542798" cy="53205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Parallelization multiplies efficiency.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1. Workflow Design: Define what agents should do</a:t>
            </a:r>
          </a:p>
          <a:p>
            <a:pPr marL="365760" indent="-182880" algn="l">
              <a:buChar char="•"/>
            </a:pPr>
            <a:r>
              <a:t>2. Context Engineering: Optimize what agents can see</a:t>
            </a:r>
          </a:p>
          <a:p>
            <a:pPr marL="365760" indent="-182880" algn="l">
              <a:buChar char="•"/>
            </a:pPr>
            <a:r>
              <a:t>3. Parallelization: Scale by running multiple agents</a:t>
            </a:r>
          </a:p>
          <a:p>
            <a:pPr marL="365760" indent="-182880" algn="l">
              <a:buChar char="•"/>
            </a:pPr>
            <a:r>
              <a:t>Boris Cherny (Claude Code creator) runs 5 Claudes in parallel!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3: Getting Started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Installation, configuration, and safety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One npm install gets you started.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npm install -g @anthropic-ai/claude-code</a:t>
            </a:r>
          </a:p>
          <a:p>
            <a:pPr marL="365760" indent="-182880" algn="l">
              <a:buChar char="•"/>
            </a:pPr>
            <a:r>
              <a:t>claude --version</a:t>
            </a:r>
          </a:p>
          <a:p>
            <a:pPr marL="365760" indent="-182880" algn="l">
              <a:buChar char="•"/>
            </a:pPr>
            <a:r>
              <a:t>cd your-project &amp;&amp; claude</a:t>
            </a:r>
          </a:p>
          <a:p>
            <a:pPr marL="365760" indent="-182880" algn="l">
              <a:buChar char="•"/>
            </a:pPr>
            <a:r>
              <a:t>First run: authenticate, create ~/.claude/, optionally run /init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Plans range from $20 to $200/month.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Pro ($20/month): Light usage, small repos</a:t>
            </a:r>
          </a:p>
          <a:p>
            <a:pPr marL="365760" indent="-182880" algn="l">
              <a:buChar char="•"/>
            </a:pPr>
            <a:r>
              <a:t>Max 5x ($100/month): Moderate usage, larger repos</a:t>
            </a:r>
          </a:p>
          <a:p>
            <a:pPr marL="365760" indent="-182880" algn="l">
              <a:buChar char="•"/>
            </a:pPr>
            <a:r>
              <a:t>Max 20x ($200/month): Heavy usage, complex projects</a:t>
            </a:r>
          </a:p>
          <a:p>
            <a:pPr marL="365760" indent="-182880" algn="l">
              <a:buChar char="•"/>
            </a:pPr>
            <a:r>
              <a:t>Usage shared across Claude web, desktop, and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The statusline shows real-time data.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model.display_name: Current model</a:t>
            </a:r>
          </a:p>
          <a:p>
            <a:pPr marL="365760" indent="-182880" algn="l">
              <a:buChar char="•"/>
            </a:pPr>
            <a:r>
              <a:t>tokens.input / tokens.output: Token counts</a:t>
            </a:r>
          </a:p>
          <a:p>
            <a:pPr marL="365760" indent="-182880" algn="l">
              <a:buChar char="•"/>
            </a:pPr>
            <a:r>
              <a:t>cost.current / cost.total: Cost tracking</a:t>
            </a:r>
          </a:p>
          <a:p>
            <a:pPr marL="365760" indent="-182880" algn="l">
              <a:buChar char="•"/>
            </a:pPr>
            <a:r>
              <a:t>Setup: /statusline show the model name and context usage percentage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 descr="Slide027-status-tab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2060863"/>
            <a:ext cx="4876800" cy="387927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/status shows session info and usage.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5986032" cy="4648200"/>
          </a:xfrm>
        </p:spPr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Status tab: Version, session ID, model, MCP servers, memory</a:t>
            </a:r>
          </a:p>
          <a:p>
            <a:pPr marL="365760" indent="-182880" algn="l">
              <a:buChar char="•"/>
            </a:pPr>
            <a:r>
              <a:rPr dirty="0"/>
              <a:t>Config tab: Preferences, theme, checkpoints</a:t>
            </a:r>
          </a:p>
          <a:p>
            <a:pPr marL="365760" indent="-182880" algn="l">
              <a:buChar char="•"/>
            </a:pPr>
            <a:r>
              <a:rPr dirty="0"/>
              <a:t>Usage tab: Context percentage, weekly limits</a:t>
            </a:r>
          </a:p>
          <a:p>
            <a:pPr marL="365760" indent="-182880" algn="l">
              <a:buChar char="•"/>
            </a:pPr>
            <a:r>
              <a:rPr dirty="0"/>
              <a:t>[Figure: status-tab-</a:t>
            </a:r>
            <a:r>
              <a:rPr dirty="0" err="1"/>
              <a:t>status.png</a:t>
            </a:r>
            <a:r>
              <a:rPr dirty="0"/>
              <a:t>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5637F-134B-2D2B-1E0D-BC9237429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546" y="1584835"/>
            <a:ext cx="5843454" cy="464820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CLAUDE.md provides persistent context.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# Project Name → ## Tech Stack → ## Commands → ## Conventions</a:t>
            </a:r>
          </a:p>
          <a:p>
            <a:pPr marL="365760" indent="-182880" algn="l">
              <a:buChar char="•"/>
            </a:pPr>
            <a:r>
              <a:t>Hierarchy: ~/.claude/ → parent → project → subdirectory</a:t>
            </a:r>
          </a:p>
          <a:p>
            <a:pPr marL="365760" indent="-182880" algn="l">
              <a:buChar char="•"/>
            </a:pPr>
            <a:r>
              <a:t>The /init command generates a starter file</a:t>
            </a:r>
          </a:p>
          <a:p>
            <a:pPr marL="365760" indent="-182880" algn="l">
              <a:buChar char="•"/>
            </a:pPr>
            <a:r>
              <a:t>Updates compound over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Four permission modes are available.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default: Prompts for first use of each tool</a:t>
            </a:r>
          </a:p>
          <a:p>
            <a:pPr marL="365760" indent="-182880" algn="l">
              <a:buChar char="•"/>
            </a:pPr>
            <a:r>
              <a:t>acceptEdits: Auto-accepts file edits for session</a:t>
            </a:r>
          </a:p>
          <a:p>
            <a:pPr marL="365760" indent="-182880" algn="l">
              <a:buChar char="•"/>
            </a:pPr>
            <a:r>
              <a:t>plan: Read-only analysis, no modifications</a:t>
            </a:r>
          </a:p>
          <a:p>
            <a:pPr marL="365760" indent="-182880" algn="l">
              <a:buChar char="•"/>
            </a:pPr>
            <a:r>
              <a:t>bypassPermissions: Skips all prompts (safe environment only)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Granular rules provide fine control.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allow: ["Bash(npm run test:*)", "Bash(git:*)"]</a:t>
            </a:r>
          </a:p>
          <a:p>
            <a:pPr marL="365760" indent="-182880" algn="l">
              <a:buChar char="•"/>
            </a:pPr>
            <a:r>
              <a:t>deny: ["Read(./.env)", "Read(**/*.key)"]</a:t>
            </a:r>
          </a:p>
          <a:p>
            <a:pPr marL="365760" indent="-182880" algn="l">
              <a:buChar char="•"/>
            </a:pPr>
            <a:r>
              <a:t>ask: ["Bash(git push:*)", "Bash(rm:*)"]</a:t>
            </a:r>
          </a:p>
          <a:p>
            <a:pPr marL="365760" indent="-182880" algn="l">
              <a:buChar char="•"/>
            </a:pPr>
            <a:r>
              <a:t>Evaluation order: deny → allow → 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Hooks run scripts on tool events.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PreToolUse: Run validation before tool executes</a:t>
            </a:r>
          </a:p>
          <a:p>
            <a:pPr marL="365760" indent="-182880" algn="l">
              <a:buChar char="•"/>
            </a:pPr>
            <a:r>
              <a:t>PostToolUse: Process results after tool completes</a:t>
            </a:r>
          </a:p>
          <a:p>
            <a:pPr marL="365760" indent="-182880" algn="l">
              <a:buChar char="•"/>
            </a:pPr>
            <a:r>
              <a:t>PermissionRequest: Custom permission logic</a:t>
            </a:r>
          </a:p>
          <a:p>
            <a:pPr marL="365760" indent="-182880" algn="l">
              <a:buChar char="•"/>
            </a:pPr>
            <a:r>
              <a:t>Can block, modify, or auto-approve based on custom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Three elements create security risk.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1. Access to private data (env vars, credentials)</a:t>
            </a:r>
          </a:p>
          <a:p>
            <a:pPr marL="365760" indent="-182880" algn="l">
              <a:buChar char="•"/>
            </a:pPr>
            <a:r>
              <a:t>2. Exposure to untrusted content (web pages, user input)</a:t>
            </a:r>
          </a:p>
          <a:p>
            <a:pPr marL="365760" indent="-182880" algn="l">
              <a:buChar char="•"/>
            </a:pPr>
            <a:r>
              <a:t>3. External communication ability (network access)</a:t>
            </a:r>
          </a:p>
          <a:p>
            <a:pPr marL="365760" indent="-182880" algn="l">
              <a:buChar char="•"/>
            </a:pPr>
            <a:r>
              <a:t>AI cannot reliably detect prompt injection—architecture must prevent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4: Cursor vs Alternatives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Comparing tools for different workflows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Cursor is an assistant; Claude Code is an agent.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Cursor: Enhanced IDE, GUI (VS Code fork), User-selectable model</a:t>
            </a:r>
          </a:p>
          <a:p>
            <a:pPr marL="365760" indent="-182880" algn="l">
              <a:buChar char="•"/>
            </a:pPr>
            <a:r>
              <a:t>Claude Code: Autonomous Agent, CLI/Terminal, Claude (optimized)</a:t>
            </a:r>
          </a:p>
          <a:p>
            <a:pPr marL="365760" indent="-182880" algn="l">
              <a:buChar char="•"/>
            </a:pPr>
            <a:r>
              <a:t>Cursor: User-initiated execution, IDE-provided context</a:t>
            </a:r>
          </a:p>
          <a:p>
            <a:pPr marL="365760" indent="-182880" algn="l">
              <a:buChar char="•"/>
            </a:pPr>
            <a:r>
              <a:t>Claude Code: Autonomous execution, Full filesystem + shell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Choose based on how you think.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Cursor excels at: Quick inline edits, code explanation, GUI preference</a:t>
            </a:r>
          </a:p>
          <a:p>
            <a:pPr marL="365760" indent="-182880" algn="l">
              <a:buChar char="•"/>
            </a:pPr>
            <a:r>
              <a:t>Claude Code excels at: Multi-file refactoring, autonomous tasks</a:t>
            </a:r>
          </a:p>
          <a:p>
            <a:pPr marL="365760" indent="-182880" algn="l">
              <a:buChar char="•"/>
            </a:pPr>
            <a:r>
              <a:t>Claude Code excels at: Pipeline automation, shell access tasks</a:t>
            </a:r>
          </a:p>
          <a:p>
            <a:pPr marL="365760" indent="-182880" algn="l">
              <a:buChar char="•"/>
            </a:pPr>
            <a:r>
              <a:t>Many developers use both for different contexts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Alternatives offer different trade-offs.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OpenCode: 75+ providers, free — Best for budget, model flexibility</a:t>
            </a:r>
          </a:p>
          <a:p>
            <a:pPr marL="365760" indent="-182880" algn="l">
              <a:buChar char="•"/>
            </a:pPr>
            <a:r>
              <a:t>Aider: Code graph, git integration — Best for monorepos, explicit control</a:t>
            </a:r>
          </a:p>
          <a:p>
            <a:pPr marL="365760" indent="-182880" algn="l">
              <a:buChar char="•"/>
            </a:pPr>
            <a:r>
              <a:t>Gemini CLI: 1M context, free tier — Best for Google Cloud, docs tasks</a:t>
            </a:r>
          </a:p>
          <a:p>
            <a:pPr marL="365760" indent="-182880" algn="l">
              <a:buChar char="•"/>
            </a:pPr>
            <a:r>
              <a:t>Codex CLI: GitHub Actions — Best for CI/CD integration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Claude Code leads SWE-bench at 80.9%.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Claude Code + Opus 4.5: 80.9%</a:t>
            </a:r>
          </a:p>
          <a:p>
            <a:pPr marL="365760" indent="-182880" algn="l">
              <a:buChar char="•"/>
            </a:pPr>
            <a:r>
              <a:t>Aider: 67%</a:t>
            </a:r>
          </a:p>
          <a:p>
            <a:pPr marL="365760" indent="-182880" algn="l">
              <a:buChar char="•"/>
            </a:pPr>
            <a:r>
              <a:t>Cline: 63%</a:t>
            </a:r>
          </a:p>
          <a:p>
            <a:pPr marL="365760" indent="-182880" algn="l">
              <a:buChar char="•"/>
            </a:pPr>
            <a:r>
              <a:t>Gemini 2.5 Pro: 63.8%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Section 5: Demo &amp; Future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Live demonstration and what's coming next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This presentation demonstrates the workflow.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CLAUDE.md (instructions) → scratch/SCRATCH.md (raw notes)</a:t>
            </a:r>
          </a:p>
          <a:p>
            <a:pPr marL="365760" indent="-182880" algn="l">
              <a:buChar char="•"/>
            </a:pPr>
            <a:r>
              <a:t>→ docs/topics/*.md (organized knowledge)</a:t>
            </a:r>
          </a:p>
          <a:p>
            <a:pPr marL="365760" indent="-182880" algn="l">
              <a:buChar char="•"/>
            </a:pPr>
            <a:r>
              <a:t>→ docs/NARRATIVE.md → docs/PRESENTATION.md</a:t>
            </a:r>
          </a:p>
          <a:p>
            <a:pPr marL="365760" indent="-182880" algn="l">
              <a:buChar char="•"/>
            </a:pPr>
            <a:r>
              <a:t>→ *.pptx (Skills-generated output)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Commits document the collaboration.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Initial scaffolding</a:t>
            </a:r>
          </a:p>
          <a:p>
            <a:pPr marL="365760" indent="-182880" algn="l">
              <a:buChar char="•"/>
            </a:pPr>
            <a:r>
              <a:t>Phase 1: Research compilation</a:t>
            </a:r>
          </a:p>
          <a:p>
            <a:pPr marL="365760" indent="-182880" algn="l">
              <a:buChar char="•"/>
            </a:pPr>
            <a:r>
              <a:t>Additional research: permissions, alternatives</a:t>
            </a:r>
          </a:p>
          <a:p>
            <a:pPr marL="365760" indent="-182880" algn="l">
              <a:buChar char="•"/>
            </a:pPr>
            <a:r>
              <a:t>Narrative structure → Slide outline → PPTX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Let us see Claude Code in action.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Show /status, /statusline commands</a:t>
            </a:r>
          </a:p>
          <a:p>
            <a:pPr marL="365760" indent="-182880" algn="l">
              <a:buChar char="•"/>
            </a:pPr>
            <a:r>
              <a:t>Install a skill via /plugin</a:t>
            </a:r>
          </a:p>
          <a:p>
            <a:pPr marL="365760" indent="-182880" algn="l">
              <a:buChar char="•"/>
            </a:pPr>
            <a:r>
              <a:t>Run /init on a sample project</a:t>
            </a:r>
          </a:p>
          <a:p>
            <a:pPr marL="365760" indent="-182880" algn="l">
              <a:buChar char="•"/>
            </a:pPr>
            <a:r>
              <a:t>Simple code modification task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 descr="Slide042-ralph-wiggum-awesome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2583591"/>
            <a:ext cx="4876800" cy="283381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Ralph-Wiggum treats failure as data.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391" y="1510234"/>
            <a:ext cx="5914851" cy="4648200"/>
          </a:xfrm>
        </p:spPr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rPr dirty="0"/>
              <a:t>A simple while loop that feeds an AI agent a prompt until completion</a:t>
            </a:r>
          </a:p>
          <a:p>
            <a:pPr marL="365760" indent="-182880" algn="l">
              <a:buChar char="•"/>
            </a:pPr>
            <a:r>
              <a:rPr dirty="0"/>
              <a:t>Deterministic stopping criteria (not "try once and fail")</a:t>
            </a:r>
          </a:p>
          <a:p>
            <a:pPr marL="365760" indent="-182880" algn="l">
              <a:buChar char="•"/>
            </a:pPr>
            <a:r>
              <a:rPr dirty="0"/>
              <a:t>Failure-as-data philosophy: setbacks guide refinement</a:t>
            </a:r>
          </a:p>
          <a:p>
            <a:pPr marL="365760" indent="-182880" algn="l">
              <a:buChar char="•"/>
            </a:pPr>
            <a:r>
              <a:rPr dirty="0"/>
              <a:t>Emerging: Overnight automation, parallel loops, BMAD-METHOD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71B7C-828A-DCDE-980D-20C1FE28C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279" y="1510234"/>
            <a:ext cx="5975721" cy="347237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The future is here—adoption is key.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Old: Write code myself → New: Design workflows that write code</a:t>
            </a:r>
          </a:p>
          <a:p>
            <a:pPr marL="365760" indent="-182880" algn="l">
              <a:buChar char="•"/>
            </a:pPr>
            <a:r>
              <a:t>Old: One-shot prompts → New: Iterative loops until done</a:t>
            </a:r>
          </a:p>
          <a:p>
            <a:pPr marL="365760" indent="-182880" algn="l">
              <a:buChar char="•"/>
            </a:pPr>
            <a:r>
              <a:t>Old: Static instructions → New: Continuously improved artifacts</a:t>
            </a:r>
          </a:p>
          <a:p>
            <a:pPr marL="365760" indent="-182880" algn="l">
              <a:buChar char="•"/>
            </a:pPr>
            <a:r>
              <a:t>Start with CLAUDE.md on one project, refine over 5-10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Here are the key takeaways.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Claude Code = LLM + filesystem access = general agent</a:t>
            </a:r>
          </a:p>
          <a:p>
            <a:pPr marL="365760" indent="-182880" algn="l">
              <a:buChar char="•"/>
            </a:pPr>
            <a:r>
              <a:t>Workflows compound—every CLAUDE.md update makes the system smarter</a:t>
            </a:r>
          </a:p>
          <a:p>
            <a:pPr marL="365760" indent="-182880" algn="l">
              <a:buChar char="•"/>
            </a:pPr>
            <a:r>
              <a:t>Context engineering is the fundamental skill</a:t>
            </a:r>
          </a:p>
          <a:p>
            <a:pPr marL="365760" indent="-182880" algn="l">
              <a:buChar char="•"/>
            </a:pPr>
            <a:r>
              <a:t>Parallelization via git worktree multiplies efficiency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Here are resources to get started.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Official: code.claude.com/docs</a:t>
            </a:r>
          </a:p>
          <a:p>
            <a:pPr marL="365760" indent="-182880" algn="l">
              <a:buChar char="•"/>
            </a:pPr>
            <a:r>
              <a:t>Course: DeepLearning.ai Claude Code course</a:t>
            </a:r>
          </a:p>
          <a:p>
            <a:pPr marL="365760" indent="-182880" algn="l">
              <a:buChar char="•"/>
            </a:pPr>
            <a:r>
              <a:t>Skills: github.com/anthropics/skills</a:t>
            </a:r>
          </a:p>
          <a:p>
            <a:pPr marL="365760" indent="-182880" algn="l">
              <a:buChar char="•"/>
            </a:pPr>
            <a:r>
              <a:t>Scientific: K-Dense-AI/claude-scientific-skills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A008A-A9D8-B05B-ECB5-EEC2E895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examples in house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5F5BD-479C-45CB-BD43-08BA581FC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DECK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32E15-0FF3-C4FB-E565-4485125BA03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ACC4D6-A71C-29FE-84FB-C24EED84C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92555"/>
            <a:ext cx="7772400" cy="449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771978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How might this change our team's workflows?</a:t>
            </a:r>
          </a:p>
          <a:p>
            <a:pPr marL="365760" indent="-182880" algn="l">
              <a:buChar char="•"/>
            </a:pPr>
            <a:r>
              <a:t>What tasks would benefit most from agent automation?</a:t>
            </a:r>
          </a:p>
          <a:p>
            <a:pPr marL="365760" indent="-182880" algn="l">
              <a:buChar char="•"/>
            </a:pPr>
            <a:r>
              <a:t>Security considerations for our environment</a:t>
            </a:r>
          </a:p>
          <a:p>
            <a:pPr marL="365760" indent="-182880" algn="l">
              <a:buChar char="•"/>
            </a:pPr>
            <a:r>
              <a:t>Skill development for our specific use cases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Claude Code uses only four core tools.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Read: File contents, images, PDFs</a:t>
            </a:r>
          </a:p>
          <a:p>
            <a:pPr marL="365760" indent="-182880" algn="l">
              <a:buChar char="•"/>
            </a:pPr>
            <a:r>
              <a:t>Write: Create new files</a:t>
            </a:r>
          </a:p>
          <a:p>
            <a:pPr marL="365760" indent="-182880" algn="l">
              <a:buChar char="•"/>
            </a:pPr>
            <a:r>
              <a:t>Edit: String replacement in files</a:t>
            </a:r>
          </a:p>
          <a:p>
            <a:pPr marL="365760" indent="-182880" algn="l">
              <a:buChar char="•"/>
            </a:pPr>
            <a:r>
              <a:t>Bash: Shell command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MCP servers extend capabilities.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/plugin install @anthropic-ai/mcp-server-github</a:t>
            </a:r>
          </a:p>
          <a:p>
            <a:pPr marL="365760" indent="-182880" algn="l">
              <a:buChar char="•"/>
            </a:pPr>
            <a:r>
              <a:t>/plugin install @anthropic-ai/mcp-server-context7</a:t>
            </a:r>
          </a:p>
          <a:p>
            <a:pPr marL="365760" indent="-182880" algn="l">
              <a:buChar char="•"/>
            </a:pPr>
            <a:r>
              <a:t>Available servers: GitHub, databases, APIs</a:t>
            </a:r>
          </a:p>
          <a:p>
            <a:pPr marL="365760" indent="-182880" algn="l">
              <a:buChar char="•"/>
            </a:pPr>
            <a:r>
              <a:t>Trade-off: Convenience vs. context window overhead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Gemini CLI offers 1M token context.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65760" indent="-18288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Char char="•"/>
            </a:pPr>
            <a:r>
              <a:t>1 million token context window</a:t>
            </a:r>
          </a:p>
          <a:p>
            <a:pPr marL="365760" indent="-182880" algn="l">
              <a:buChar char="•"/>
            </a:pPr>
            <a:r>
              <a:t>60 requests/minute, 1000/day (free)</a:t>
            </a:r>
          </a:p>
          <a:p>
            <a:pPr marL="365760" indent="-182880" algn="l">
              <a:buChar char="•"/>
            </a:pPr>
            <a:r>
              <a:t>Deep Google Cloud integration</a:t>
            </a:r>
          </a:p>
          <a:p>
            <a:pPr marL="365760" indent="-182880" algn="l">
              <a:buChar char="•"/>
            </a:pPr>
            <a:r>
              <a:t>Lower SWE-bench scores than Claude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D000A7A8EA4549909635EE44265AE2" ma:contentTypeVersion="12" ma:contentTypeDescription="Create a new document." ma:contentTypeScope="" ma:versionID="7f357fbe57b84af1bdddcd22c912bac7">
  <xsd:schema xmlns:xsd="http://www.w3.org/2001/XMLSchema" xmlns:xs="http://www.w3.org/2001/XMLSchema" xmlns:p="http://schemas.microsoft.com/office/2006/metadata/properties" xmlns:ns2="baa02956-e5b0-401a-adb6-d3ab856a8db1" xmlns:ns3="758526ea-ff42-49f4-966e-8b92dfb8c37c" targetNamespace="http://schemas.microsoft.com/office/2006/metadata/properties" ma:root="true" ma:fieldsID="f01aca49933565aaf8490f47588de525" ns2:_="" ns3:_="">
    <xsd:import namespace="baa02956-e5b0-401a-adb6-d3ab856a8db1"/>
    <xsd:import namespace="758526ea-ff42-49f4-966e-8b92dfb8c3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a02956-e5b0-401a-adb6-d3ab856a8d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1fcaec3-bbe8-47cb-8230-d56e5e00ee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526ea-ff42-49f4-966e-8b92dfb8c37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dab7eb4-bfd3-4979-82d9-0ddc6ac1411b}" ma:internalName="TaxCatchAll" ma:showField="CatchAllData" ma:web="758526ea-ff42-49f4-966e-8b92dfb8c3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aa02956-e5b0-401a-adb6-d3ab856a8db1">
      <Terms xmlns="http://schemas.microsoft.com/office/infopath/2007/PartnerControls"/>
    </lcf76f155ced4ddcb4097134ff3c332f>
    <TaxCatchAll xmlns="758526ea-ff42-49f4-966e-8b92dfb8c37c" xsi:nil="true"/>
  </documentManagement>
</p:properties>
</file>

<file path=customXml/itemProps1.xml><?xml version="1.0" encoding="utf-8"?>
<ds:datastoreItem xmlns:ds="http://schemas.openxmlformats.org/officeDocument/2006/customXml" ds:itemID="{0A62184A-FEE7-42AA-86BE-4760650221E9}">
  <ds:schemaRefs>
    <ds:schemaRef ds:uri="758526ea-ff42-49f4-966e-8b92dfb8c37c"/>
    <ds:schemaRef ds:uri="baa02956-e5b0-401a-adb6-d3ab856a8d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04B941D-E84F-47C8-84C7-8C66135B4C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17E194-3F2D-4BC4-9EAF-A0569BAF4335}">
  <ds:schemaRefs>
    <ds:schemaRef ds:uri="baa02956-e5b0-401a-adb6-d3ab856a8db1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758526ea-ff42-49f4-966e-8b92dfb8c37c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2039</Words>
  <Application>Microsoft Macintosh PowerPoint</Application>
  <PresentationFormat>Widescreen</PresentationFormat>
  <Paragraphs>294</Paragraphs>
  <Slides>51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Helvetica</vt:lpstr>
      <vt:lpstr>Helvetica Neue</vt:lpstr>
      <vt:lpstr>Helvetica Neue Light</vt:lpstr>
      <vt:lpstr>Black</vt:lpstr>
      <vt:lpstr>Claude Code: From Coding to Workflow Design</vt:lpstr>
      <vt:lpstr>Agenda</vt:lpstr>
      <vt:lpstr>Section 1: The Paradigm Shift</vt:lpstr>
      <vt:lpstr>We are stuck in an old mental model.</vt:lpstr>
      <vt:lpstr>Engineers now design systems.</vt:lpstr>
      <vt:lpstr>You communicate intent to agents.</vt:lpstr>
      <vt:lpstr>CLAUDE.md / AGENTS.md as improving workflow over time</vt:lpstr>
      <vt:lpstr>Claude Code is a general agent.</vt:lpstr>
      <vt:lpstr>One of its power comes from simplicity.</vt:lpstr>
      <vt:lpstr>It automates anything you can type.</vt:lpstr>
      <vt:lpstr>It is an LLM with filesystem access.</vt:lpstr>
      <vt:lpstr>Section 2: Context Engineering</vt:lpstr>
      <vt:lpstr>O(N²) complexity creates hard limits.</vt:lpstr>
      <vt:lpstr>Context engineering is the key skill.</vt:lpstr>
      <vt:lpstr>The file system provides ”swap” for context for LLM</vt:lpstr>
      <vt:lpstr>/status monitors context in real-time.</vt:lpstr>
      <vt:lpstr>Subagents spawn fresh context windows.</vt:lpstr>
      <vt:lpstr>Agentic patterns have emerged.</vt:lpstr>
      <vt:lpstr>Skills are markdown with instructions.</vt:lpstr>
      <vt:lpstr>140+ scientific skills are available.</vt:lpstr>
      <vt:lpstr>MCP can waste 7-9% of context.</vt:lpstr>
      <vt:lpstr>Git worktree enables parallel sessions.</vt:lpstr>
      <vt:lpstr>Parallelization multiplies efficiency.</vt:lpstr>
      <vt:lpstr>Section 3: Getting Started</vt:lpstr>
      <vt:lpstr>One npm install gets you started.</vt:lpstr>
      <vt:lpstr>Plans range from $20 to $200/month.</vt:lpstr>
      <vt:lpstr>The statusline shows real-time data.</vt:lpstr>
      <vt:lpstr>/status shows session info and usage.</vt:lpstr>
      <vt:lpstr>CLAUDE.md provides persistent context.</vt:lpstr>
      <vt:lpstr>Four permission modes are available.</vt:lpstr>
      <vt:lpstr>Granular rules provide fine control.</vt:lpstr>
      <vt:lpstr>Hooks run scripts on tool events.</vt:lpstr>
      <vt:lpstr>Three elements create security risk.</vt:lpstr>
      <vt:lpstr>Section 4: Cursor vs Alternatives</vt:lpstr>
      <vt:lpstr>Cursor is an assistant; Claude Code is an agent.</vt:lpstr>
      <vt:lpstr>Choose based on how you think.</vt:lpstr>
      <vt:lpstr>Alternatives offer different trade-offs.</vt:lpstr>
      <vt:lpstr>Claude Code leads SWE-bench at 80.9%.</vt:lpstr>
      <vt:lpstr>Section 5: Demo &amp; Future</vt:lpstr>
      <vt:lpstr>This presentation demonstrates the workflow.</vt:lpstr>
      <vt:lpstr>Commits document the collaboration.</vt:lpstr>
      <vt:lpstr>Let us see Claude Code in action.</vt:lpstr>
      <vt:lpstr>Ralph-Wiggum treats failure as data.</vt:lpstr>
      <vt:lpstr>The future is here—adoption is key.</vt:lpstr>
      <vt:lpstr>Here are the key takeaways.</vt:lpstr>
      <vt:lpstr>Here are resources to get started.</vt:lpstr>
      <vt:lpstr>Some examples in house</vt:lpstr>
      <vt:lpstr>Questions?</vt:lpstr>
      <vt:lpstr>Claude Code uses only four core tools.</vt:lpstr>
      <vt:lpstr>MCP servers extend capabilities.</vt:lpstr>
      <vt:lpstr>Gemini CLI offers 1M token context.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leon weinreb</dc:creator>
  <cp:lastModifiedBy>changhee@somite.ai</cp:lastModifiedBy>
  <cp:revision>47</cp:revision>
  <dcterms:modified xsi:type="dcterms:W3CDTF">2026-01-16T00:45:28Z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0x010100C8D000A7A8EA4549909635EE44265AE2</vt:lpwstr>
  </property>
  <property fmtid="{D5CDD505-2E9C-101B-9397-08002B2CF9AE}" pid="3" name="MediaServiceImageTags">
    <vt:lpwstr/>
  </property>
</Properties>
</file>