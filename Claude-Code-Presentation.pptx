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343" r:id="rId5"/>
    <p:sldId id="344" r:id="rId6"/>
    <p:sldId id="351" r:id="rId7"/>
    <p:sldId id="352" r:id="rId8"/>
    <p:sldId id="353" r:id="rId9"/>
    <p:sldId id="354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62" r:id="rId18"/>
    <p:sldId id="363" r:id="rId19"/>
    <p:sldId id="364" r:id="rId20"/>
    <p:sldId id="365" r:id="rId21"/>
    <p:sldId id="366" r:id="rId22"/>
    <p:sldId id="367" r:id="rId23"/>
    <p:sldId id="368" r:id="rId24"/>
    <p:sldId id="369" r:id="rId25"/>
    <p:sldId id="370" r:id="rId26"/>
    <p:sldId id="371" r:id="rId27"/>
    <p:sldId id="372" r:id="rId28"/>
    <p:sldId id="373" r:id="rId29"/>
    <p:sldId id="374" r:id="rId30"/>
    <p:sldId id="375" r:id="rId31"/>
    <p:sldId id="376" r:id="rId32"/>
    <p:sldId id="377" r:id="rId33"/>
    <p:sldId id="378" r:id="rId34"/>
    <p:sldId id="379" r:id="rId35"/>
    <p:sldId id="380" r:id="rId36"/>
    <p:sldId id="381" r:id="rId37"/>
    <p:sldId id="382" r:id="rId38"/>
    <p:sldId id="383" r:id="rId39"/>
    <p:sldId id="384" r:id="rId40"/>
    <p:sldId id="385" r:id="rId41"/>
    <p:sldId id="386" r:id="rId42"/>
    <p:sldId id="387" r:id="rId43"/>
    <p:sldId id="388" r:id="rId44"/>
    <p:sldId id="389" r:id="rId45"/>
    <p:sldId id="390" r:id="rId46"/>
    <p:sldId id="391" r:id="rId47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a Breakstone" initials="M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5B"/>
    <a:srgbClr val="001133"/>
    <a:srgbClr val="000308"/>
    <a:srgbClr val="001A4D"/>
    <a:srgbClr val="00205F"/>
    <a:srgbClr val="16E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6D6"/>
              </a:solidFill>
              <a:prstDash val="solid"/>
              <a:miter lim="400000"/>
            </a:ln>
          </a:left>
          <a:right>
            <a:ln w="254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254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6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6D6"/>
              </a:solidFill>
              <a:prstDash val="solid"/>
              <a:miter lim="400000"/>
            </a:ln>
          </a:top>
          <a:bottom>
            <a:ln w="254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84E00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AAAAA"/>
              </a:solidFill>
              <a:prstDash val="solid"/>
              <a:miter lim="400000"/>
            </a:ln>
          </a:left>
          <a:right>
            <a:ln w="12700" cap="flat">
              <a:solidFill>
                <a:srgbClr val="AAAAAA"/>
              </a:solidFill>
              <a:prstDash val="solid"/>
              <a:miter lim="400000"/>
            </a:ln>
          </a:right>
          <a:top>
            <a:ln w="12700" cap="flat">
              <a:solidFill>
                <a:srgbClr val="AAAAAA"/>
              </a:solidFill>
              <a:prstDash val="solid"/>
              <a:miter lim="400000"/>
            </a:ln>
          </a:top>
          <a:bottom>
            <a:ln w="12700" cap="flat">
              <a:solidFill>
                <a:srgbClr val="AAAAAA"/>
              </a:solidFill>
              <a:prstDash val="solid"/>
              <a:miter lim="400000"/>
            </a:ln>
          </a:bottom>
          <a:insideH>
            <a:ln w="12700" cap="flat">
              <a:solidFill>
                <a:srgbClr val="AAAAAA"/>
              </a:solidFill>
              <a:prstDash val="solid"/>
              <a:miter lim="400000"/>
            </a:ln>
          </a:insideH>
          <a:insideV>
            <a:ln w="12700" cap="flat">
              <a:solidFill>
                <a:srgbClr val="AAAAAA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-119728"/>
              <a:satOff val="5580"/>
              <a:lumOff val="-12961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09090"/>
              </a:solidFill>
              <a:prstDash val="solid"/>
              <a:miter lim="400000"/>
            </a:ln>
          </a:left>
          <a:right>
            <a:ln w="12700" cap="flat">
              <a:solidFill>
                <a:srgbClr val="909090"/>
              </a:solidFill>
              <a:prstDash val="solid"/>
              <a:miter lim="400000"/>
            </a:ln>
          </a:right>
          <a:top>
            <a:ln w="12700" cap="flat">
              <a:solidFill>
                <a:srgbClr val="909090"/>
              </a:solidFill>
              <a:prstDash val="solid"/>
              <a:miter lim="400000"/>
            </a:ln>
          </a:top>
          <a:bottom>
            <a:ln w="12700" cap="flat">
              <a:solidFill>
                <a:srgbClr val="909090"/>
              </a:solidFill>
              <a:prstDash val="solid"/>
              <a:miter lim="400000"/>
            </a:ln>
          </a:bottom>
          <a:insideH>
            <a:ln w="12700" cap="flat">
              <a:solidFill>
                <a:srgbClr val="909090"/>
              </a:solidFill>
              <a:prstDash val="solid"/>
              <a:miter lim="400000"/>
            </a:ln>
          </a:insideH>
          <a:insideV>
            <a:ln w="12700" cap="flat">
              <a:solidFill>
                <a:srgbClr val="90909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98089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94"/>
  </p:normalViewPr>
  <p:slideViewPr>
    <p:cSldViewPr snapToGrid="0">
      <p:cViewPr varScale="1">
        <p:scale>
          <a:sx n="114" d="100"/>
          <a:sy n="114" d="100"/>
        </p:scale>
        <p:origin x="200" y="328"/>
      </p:cViewPr>
      <p:guideLst>
        <p:guide orient="horz" pos="240"/>
        <p:guide pos="3840"/>
        <p:guide pos="240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8C4DA5-1F50-07BA-61AB-EC375CAA0C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081F7-2215-2CF4-28B4-9CECFC4AAF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602C26-7A89-43ED-8411-2303B4D08797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E85004-CDBA-4130-C170-DD80721372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524A8-90CF-47B3-629C-01F2E5D97E6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CA07C-3E08-48E7-B2B3-670A1D7D82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89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1pPr>
    <a:lvl2pPr indent="1143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2pPr>
    <a:lvl3pPr indent="2286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3pPr>
    <a:lvl4pPr indent="3429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4pPr>
    <a:lvl5pPr indent="4572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5pPr>
    <a:lvl6pPr indent="5715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6pPr>
    <a:lvl7pPr indent="6858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7pPr>
    <a:lvl8pPr indent="8001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8pPr>
    <a:lvl9pPr indent="9144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89000" y="3536950"/>
            <a:ext cx="10414000" cy="79375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None/>
              <a:defRPr sz="2700"/>
            </a:lvl1pPr>
            <a:lvl2pPr marL="0" indent="0" algn="ctr">
              <a:spcBef>
                <a:spcPts val="0"/>
              </a:spcBef>
              <a:buClrTx/>
              <a:buSzTx/>
              <a:buNone/>
              <a:defRPr sz="2700"/>
            </a:lvl2pPr>
            <a:lvl3pPr marL="0" indent="0" algn="ctr">
              <a:spcBef>
                <a:spcPts val="0"/>
              </a:spcBef>
              <a:buClrTx/>
              <a:buSzTx/>
              <a:buNone/>
              <a:defRPr sz="2700"/>
            </a:lvl3pPr>
            <a:lvl4pPr marL="0" indent="0" algn="ctr">
              <a:spcBef>
                <a:spcPts val="0"/>
              </a:spcBef>
              <a:buClrTx/>
              <a:buSzTx/>
              <a:buNone/>
              <a:defRPr sz="2700"/>
            </a:lvl4pPr>
            <a:lvl5pPr marL="0" indent="0" algn="ctr">
              <a:spcBef>
                <a:spcPts val="0"/>
              </a:spcBef>
              <a:buClrTx/>
              <a:buSzTx/>
              <a:buNone/>
              <a:defRPr sz="2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</a:lvl1pPr>
            <a:lvl2pPr>
              <a:buClrTx/>
            </a:lvl2pPr>
            <a:lvl3pPr>
              <a:buClrTx/>
            </a:lvl3pPr>
            <a:lvl4pPr>
              <a:buClrTx/>
            </a:lvl4pPr>
            <a:lvl5pPr>
              <a:buClr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0FA663-7383-DBEA-0822-E60A81C633F0}"/>
              </a:ext>
            </a:extLst>
          </p:cNvPr>
          <p:cNvSpPr/>
          <p:nvPr userDrawn="1"/>
        </p:nvSpPr>
        <p:spPr>
          <a:xfrm>
            <a:off x="391893" y="1510234"/>
            <a:ext cx="10502900" cy="4663440"/>
          </a:xfrm>
          <a:prstGeom prst="rect">
            <a:avLst/>
          </a:prstGeom>
          <a:solidFill>
            <a:schemeClr val="tx1"/>
          </a:solidFill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  <a:defRPr>
                <a:solidFill>
                  <a:sysClr val="windowText" lastClr="000000"/>
                </a:solidFill>
              </a:defRPr>
            </a:lvl1pPr>
            <a:lvl2pPr>
              <a:buClrTx/>
              <a:defRPr>
                <a:solidFill>
                  <a:sysClr val="windowText" lastClr="000000"/>
                </a:solidFill>
              </a:defRPr>
            </a:lvl2pPr>
            <a:lvl3pPr>
              <a:buClrTx/>
              <a:defRPr>
                <a:solidFill>
                  <a:sysClr val="windowText" lastClr="000000"/>
                </a:solidFill>
              </a:defRPr>
            </a:lvl3pPr>
            <a:lvl4pPr>
              <a:buClrTx/>
              <a:defRPr>
                <a:solidFill>
                  <a:sysClr val="windowText" lastClr="000000"/>
                </a:solidFill>
              </a:defRPr>
            </a:lvl4pPr>
            <a:lvl5pPr>
              <a:buClrTx/>
              <a:defRPr>
                <a:solidFill>
                  <a:sysClr val="windowText" lastClr="000000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7480909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5608D-4713-EC4E-8282-1C5903FF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03942-D76B-E483-FD9F-5C81E63F7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85425-7D1C-09B7-607F-1A6EFECEA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2E6D3-DAA8-1045-973E-B04736FFA309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40273-0B5C-173D-2556-D11627A5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E5416-1A1B-9395-6E3C-3A72C99BF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396A5-FD69-DA43-B2E1-3F15D4A7FF7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37EA6-3581-4CC5-574C-8C5FC52F2DA3}"/>
              </a:ext>
            </a:extLst>
          </p:cNvPr>
          <p:cNvSpPr txBox="1"/>
          <p:nvPr userDrawn="1"/>
        </p:nvSpPr>
        <p:spPr>
          <a:xfrm>
            <a:off x="9869424" y="13414"/>
            <a:ext cx="23225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>
                <a:solidFill>
                  <a:schemeClr val="bg1"/>
                </a:solidFill>
                <a:latin typeface="Helvetica" pitchFamily="2" charset="0"/>
              </a:rPr>
              <a:t>CONFIDENTIAL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C72B28-BA7F-AB94-BC28-D32B4CF83E0C}"/>
              </a:ext>
            </a:extLst>
          </p:cNvPr>
          <p:cNvSpPr/>
          <p:nvPr userDrawn="1"/>
        </p:nvSpPr>
        <p:spPr>
          <a:xfrm>
            <a:off x="838200" y="1146412"/>
            <a:ext cx="10515600" cy="503055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00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00205F"/>
            </a:gs>
            <a:gs pos="7000">
              <a:schemeClr val="bg1"/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86899" y="386899"/>
            <a:ext cx="10502900" cy="60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87391" y="1510234"/>
            <a:ext cx="10502900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11895444" y="6542617"/>
            <a:ext cx="296556" cy="2872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2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C0A49765-7C13-4464-8753-5BEDD4AF8F1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DA81DF-5627-809F-F7C0-20F4F8BD82D8}"/>
              </a:ext>
            </a:extLst>
          </p:cNvPr>
          <p:cNvSpPr txBox="1"/>
          <p:nvPr userDrawn="1"/>
        </p:nvSpPr>
        <p:spPr>
          <a:xfrm>
            <a:off x="11150048" y="0"/>
            <a:ext cx="1041952" cy="2564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1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CONFIDENTIAL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CA1D80-2B1F-14C2-193E-5A3CEC80E93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l="4356" t="11145" r="84944" b="51846"/>
          <a:stretch>
            <a:fillRect/>
          </a:stretch>
        </p:blipFill>
        <p:spPr>
          <a:xfrm>
            <a:off x="0" y="6540500"/>
            <a:ext cx="422275" cy="289375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5" r:id="rId4"/>
  </p:sldLayoutIdLst>
  <p:transition spd="med"/>
  <p:hf hdr="0" ftr="0" dt="0"/>
  <p:txStyles>
    <p:titleStyle>
      <a:lvl1pPr marL="0" marR="0" indent="0" algn="l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FFFFFF"/>
          </a:solidFill>
          <a:uFillTx/>
          <a:latin typeface="Helvetica" pitchFamily="2" charset="0"/>
          <a:ea typeface="+mn-ea"/>
          <a:cs typeface="+mn-cs"/>
          <a:sym typeface="Helvetica Neue Medium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31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63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8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95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5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27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2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58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0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90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4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143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286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429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572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5715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6858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001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144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40" userDrawn="1">
          <p15:clr>
            <a:srgbClr val="F26B43"/>
          </p15:clr>
        </p15:guide>
        <p15:guide id="4" orient="horz" pos="22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A6C8F9-8DD9-00D7-6D2F-2FE379F77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395006"/>
            <a:ext cx="10414000" cy="2324100"/>
          </a:xfrm>
        </p:spPr>
        <p:txBody>
          <a:bodyPr/>
          <a:lstStyle/>
          <a:p>
            <a:pPr marL="0" indent="0">
              <a:buNone/>
            </a:pPr>
            <a:r>
              <a:rPr b="1"/>
              <a:t>Claude Code: From Coding to Workflow Design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2522C-1B9A-EB00-6026-62649AE5660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89000" y="3178098"/>
            <a:ext cx="10414000" cy="1115122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dirty="0"/>
              <a:t>ChangHee Lee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C</a:t>
            </a:r>
            <a:r>
              <a:rPr dirty="0"/>
              <a:t>omputational Team</a:t>
            </a:r>
            <a:r>
              <a:rPr lang="en-US" dirty="0"/>
              <a:t> 2026-01-14 (Wed)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E88BA0-9342-F21E-9BC5-D4ECCCFCAC30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05652-B379-F4E2-23B4-1D99A27368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5"/>
          <a:stretch>
            <a:fillRect/>
          </a:stretch>
        </p:blipFill>
        <p:spPr>
          <a:xfrm>
            <a:off x="-133" y="4430994"/>
            <a:ext cx="12192265" cy="242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7625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The Old vs New Mental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Old: Developer writes code line by line</a:t>
            </a:r>
          </a:p>
          <a:p>
            <a:pPr marL="365760" indent="-182880" algn="l">
              <a:buChar char="•"/>
            </a:pPr>
            <a:r>
              <a:t>New: Developer describes outcomes</a:t>
            </a:r>
          </a:p>
          <a:p>
            <a:pPr marL="365760" indent="-182880" algn="l">
              <a:buChar char="•"/>
            </a:pPr>
            <a:r>
              <a:t>Old: IDE assists with autocomplete</a:t>
            </a:r>
          </a:p>
          <a:p>
            <a:pPr marL="365760" indent="-182880" algn="l">
              <a:buChar char="•"/>
            </a:pPr>
            <a:r>
              <a:t>New: Agent plans and executes</a:t>
            </a:r>
          </a:p>
          <a:p>
            <a:pPr marL="365760" indent="-182880" algn="l">
              <a:buChar char="•"/>
            </a:pPr>
            <a:r>
              <a:t>Old: Human is the executor</a:t>
            </a:r>
          </a:p>
          <a:p>
            <a:pPr marL="365760" indent="-182880" algn="l">
              <a:buChar char="•"/>
            </a:pPr>
            <a:r>
              <a:t>New: Human supervises and validates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11964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Engineers Design Systems, Not Write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One person built a Polymarket tool in 2 hours without writing code</a:t>
            </a:r>
          </a:p>
          <a:p>
            <a:pPr marL="365760" indent="-182880" algn="l">
              <a:buChar char="•"/>
            </a:pPr>
            <a:r>
              <a:t>The technique mattered more than which AI was used</a:t>
            </a:r>
          </a:p>
          <a:p>
            <a:pPr marL="365760" indent="-182880" algn="l">
              <a:buChar char="•"/>
            </a:pPr>
            <a:r>
              <a:t>Architecture and process design become primary skills</a:t>
            </a:r>
          </a:p>
          <a:p>
            <a:pPr marL="365760" indent="-182880" algn="l">
              <a:buChar char="•"/>
            </a:pPr>
            <a:r>
              <a:t>"The outcome is defined by the process, not the model." — Mike.tech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Communicate Intent, Not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Use XML tags: &lt;task&gt;, &lt;context&gt;, &lt;constraints&gt;, &lt;output_format&gt;</a:t>
            </a:r>
          </a:p>
          <a:p>
            <a:pPr marL="365760" indent="-182880" algn="l">
              <a:buChar char="•"/>
            </a:pPr>
            <a:r>
              <a:t>Code-Level: "Write a function that..." → Focus on implementation</a:t>
            </a:r>
          </a:p>
          <a:p>
            <a:pPr marL="365760" indent="-182880" algn="l">
              <a:buChar char="•"/>
            </a:pPr>
            <a:r>
              <a:t>Abstract: "I need to transform X into Y" → Focus on intent</a:t>
            </a:r>
          </a:p>
          <a:p>
            <a:pPr marL="365760" indent="-182880" algn="l">
              <a:buChar char="•"/>
            </a:pPr>
            <a:r>
              <a:t>"It's like I was driving a race car in first gear."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Compound Efficiency Through Updates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Session 1: Write CLAUDE.md with basic project context</a:t>
            </a:r>
          </a:p>
          <a:p>
            <a:pPr marL="731520" lvl="1" indent="-182880" algn="l">
              <a:buChar char="•"/>
            </a:pPr>
            <a:r>
              <a:t>Session 5: Add common commands, conventions, warnings</a:t>
            </a:r>
          </a:p>
          <a:p>
            <a:pPr marL="731520" lvl="1" indent="-182880" algn="l">
              <a:buChar char="•"/>
            </a:pPr>
            <a:r>
              <a:t>Session 20: Refined skills, custom hooks, team patterns</a:t>
            </a:r>
          </a:p>
          <a:p>
            <a:pPr marL="731520" lvl="1" indent="-182880" algn="l">
              <a:buChar char="•"/>
            </a:pPr>
            <a:r>
              <a:t>Session 100: Agent works like a trained team member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Claude Code: A General Agent Timeline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February 2025: Launch as CLI research preview</a:t>
            </a:r>
          </a:p>
          <a:p>
            <a:pPr marL="365760" indent="-182880" algn="l">
              <a:buChar char="•"/>
            </a:pPr>
            <a:r>
              <a:t>October 2025: Web launch on claude.ai</a:t>
            </a:r>
          </a:p>
          <a:p>
            <a:pPr marL="365760" indent="-182880" algn="l">
              <a:buChar char="•"/>
            </a:pPr>
            <a:r>
              <a:t>November 2025: $1B revenue run-rate</a:t>
            </a:r>
          </a:p>
          <a:p>
            <a:pPr marL="365760" indent="-182880" algn="l">
              <a:buChar char="•"/>
            </a:pPr>
            <a:r>
              <a:t>January 2026: Multi-agent infrastructure (v2.1.0)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Automate Anything You Can Type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File system access (read, write, edit)</a:t>
            </a:r>
          </a:p>
          <a:p>
            <a:pPr marL="365760" indent="-182880" algn="l">
              <a:buChar char="•"/>
            </a:pPr>
            <a:r>
              <a:t>Command execution (shell access)</a:t>
            </a:r>
          </a:p>
          <a:p>
            <a:pPr marL="365760" indent="-182880" algn="l">
              <a:buChar char="•"/>
            </a:pPr>
            <a:r>
              <a:t>Context awareness (understands project structure)</a:t>
            </a:r>
          </a:p>
          <a:p>
            <a:pPr marL="365760" indent="-182880" algn="l">
              <a:buChar char="•"/>
            </a:pPr>
            <a:r>
              <a:t>Autonomous operation (minimal supervision)</a:t>
            </a:r>
          </a:p>
          <a:p>
            <a:pPr marL="365760" indent="-182880" algn="l">
              <a:buChar char="•"/>
            </a:pPr>
            <a:r>
              <a:t>"Agents are tools in a loop" — Simon Willison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LLM + File System Access = Agent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Web Chatbot: Stateless, copy-paste snippets</a:t>
            </a:r>
          </a:p>
          <a:p>
            <a:pPr marL="365760" indent="-182880" algn="l">
              <a:buChar char="•"/>
            </a:pPr>
            <a:r>
              <a:t>Claude Code: Persistent filesystem, direct file read/write</a:t>
            </a:r>
          </a:p>
          <a:p>
            <a:pPr marL="365760" indent="-182880" algn="l">
              <a:buChar char="•"/>
            </a:pPr>
            <a:r>
              <a:t>Web Chatbot: Human describes and executes</a:t>
            </a:r>
          </a:p>
          <a:p>
            <a:pPr marL="365760" indent="-182880" algn="l">
              <a:buChar char="•"/>
            </a:pPr>
            <a:r>
              <a:t>Claude Code: Agent explores and executes</a:t>
            </a:r>
          </a:p>
          <a:p>
            <a:pPr marL="365760" indent="-182880" algn="l">
              <a:buChar char="•"/>
            </a:pPr>
            <a:r>
              <a:t>"An LLM with permission to access a file system" — Willison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Simplicity Is the Feature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No heavyweight protocols needed</a:t>
            </a:r>
          </a:p>
          <a:p>
            <a:pPr marL="365760" indent="-182880" algn="l">
              <a:buChar char="•"/>
            </a:pPr>
            <a:r>
              <a:t>Skills are just markdown files the agent reads</a:t>
            </a:r>
          </a:p>
          <a:p>
            <a:pPr marL="365760" indent="-182880" algn="l">
              <a:buChar char="•"/>
            </a:pPr>
            <a:r>
              <a:t>Four tools (read, write, edit, bash) outperform complex ecosystems</a:t>
            </a:r>
          </a:p>
          <a:p>
            <a:pPr marL="365760" indent="-182880" algn="l">
              <a:buChar char="•"/>
            </a:pPr>
            <a:r>
              <a:t>Outsources hard parts to the LLM harness and environment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The Hard Context Limit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Attention mechanism scales quadratically O(N²)</a:t>
            </a:r>
          </a:p>
          <a:p>
            <a:pPr marL="365760" indent="-182880" algn="l">
              <a:buChar char="•"/>
            </a:pPr>
            <a:r>
              <a:t>Context window is a hard limit on what the model can "see"</a:t>
            </a:r>
          </a:p>
          <a:p>
            <a:pPr marL="365760" indent="-182880" algn="l">
              <a:buChar char="•"/>
            </a:pPr>
            <a:r>
              <a:t>Everything must fit in this window</a:t>
            </a:r>
          </a:p>
          <a:p>
            <a:pPr marL="365760" indent="-182880" algn="l">
              <a:buChar char="•"/>
            </a:pPr>
            <a:r>
              <a:t>Wasted tokens = reduced capability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Context Engineering Is Fundamental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Minimal system prompts: &lt;1,000 tokens vs competitors' 10,000+</a:t>
            </a:r>
          </a:p>
          <a:p>
            <a:pPr marL="365760" indent="-182880" algn="l">
              <a:buChar char="•"/>
            </a:pPr>
            <a:r>
              <a:t>File-based planning: External markdown preserves info</a:t>
            </a:r>
          </a:p>
          <a:p>
            <a:pPr marL="365760" indent="-182880" algn="l">
              <a:buChar char="•"/>
            </a:pPr>
            <a:r>
              <a:t>Progressive disclosure: Load tool docs only when needed</a:t>
            </a:r>
          </a:p>
          <a:p>
            <a:pPr marL="365760" indent="-182880" algn="l">
              <a:buChar char="•"/>
            </a:pPr>
            <a:r>
              <a:t>Pre-session artifacts: Research → implementation sessions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Monitor Context with /status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Current session: percentage of context window used</a:t>
            </a:r>
          </a:p>
          <a:p>
            <a:pPr marL="365760" indent="-182880" algn="l">
              <a:buChar char="•"/>
            </a:pPr>
            <a:r>
              <a:t>Session reset: when the 5-hour window resets</a:t>
            </a:r>
          </a:p>
          <a:p>
            <a:pPr marL="365760" indent="-182880" algn="l">
              <a:buChar char="•"/>
            </a:pPr>
            <a:r>
              <a:t>Weekly usage across Opus and Sonnet models</a:t>
            </a:r>
          </a:p>
          <a:p>
            <a:pPr marL="365760" indent="-182880" algn="l">
              <a:buChar char="•"/>
            </a:pPr>
            <a:r>
              <a:t>Demo the /status command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Subagents: Fresh Context Windows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Each subagent gets its own fresh context window</a:t>
            </a:r>
          </a:p>
          <a:p>
            <a:pPr marL="365760" indent="-182880" algn="l">
              <a:buChar char="•"/>
            </a:pPr>
            <a:r>
              <a:t>Example: 36 files ÷ 3 subagents = 12 files each</a:t>
            </a:r>
          </a:p>
          <a:p>
            <a:pPr marL="365760" indent="-182880" algn="l">
              <a:buChar char="•"/>
            </a:pPr>
            <a:r>
              <a:t>Prevents main agent from sequential overload</a:t>
            </a:r>
          </a:p>
          <a:p>
            <a:pPr marL="365760" indent="-182880" algn="l">
              <a:buChar char="•"/>
            </a:pPr>
            <a:r>
              <a:t>Enables parallel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Taxonomy of Agentic Patterns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Context &amp; Memory: Context-minimization, dynamic injection</a:t>
            </a:r>
          </a:p>
          <a:p>
            <a:pPr marL="365760" indent="-182880" algn="l">
              <a:buChar char="•"/>
            </a:pPr>
            <a:r>
              <a:t>Feedback Loops: Self-critique, reflection, spec-as-test</a:t>
            </a:r>
          </a:p>
          <a:p>
            <a:pPr marL="365760" indent="-182880" algn="l">
              <a:buChar char="•"/>
            </a:pPr>
            <a:r>
              <a:t>Orchestration: Plan-then-execute, phase separation</a:t>
            </a:r>
          </a:p>
          <a:p>
            <a:pPr marL="365760" indent="-182880" algn="l">
              <a:buChar char="•"/>
            </a:pPr>
            <a:r>
              <a:t>Tool Use: CLI-first, code-over-API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Skills: Markdown Instructions On-Demand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Just markdown files with YAML metadata</a:t>
            </a:r>
          </a:p>
          <a:p>
            <a:pPr marL="365760" indent="-182880" algn="l">
              <a:buChar char="•"/>
            </a:pPr>
            <a:r>
              <a:t>Brief summaries scanned before full load</a:t>
            </a:r>
          </a:p>
          <a:p>
            <a:pPr marL="365760" indent="-182880" algn="l">
              <a:buChar char="•"/>
            </a:pPr>
            <a:r>
              <a:t>Shareable across models and tools</a:t>
            </a:r>
          </a:p>
          <a:p>
            <a:pPr marL="365760" indent="-182880" algn="l">
              <a:buChar char="•"/>
            </a:pPr>
            <a:r>
              <a:t>No heavyweight protocols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140+ Scientific Skills Available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28+ Scientific databases (OpenAlex, PubMed, ChEMBL, UniProt)</a:t>
            </a:r>
          </a:p>
          <a:p>
            <a:pPr marL="365760" indent="-182880" algn="l">
              <a:buChar char="•"/>
            </a:pPr>
            <a:r>
              <a:t>55+ Python packages (RDKit, Scanpy, PyTorch)</a:t>
            </a:r>
          </a:p>
          <a:p>
            <a:pPr marL="365760" indent="-182880" algn="l">
              <a:buChar char="•"/>
            </a:pPr>
            <a:r>
              <a:t>15+ Scientific integrations (Benchling, DNAnexus)</a:t>
            </a:r>
          </a:p>
          <a:p>
            <a:pPr marL="365760" indent="-182880" algn="l">
              <a:buChar char="•"/>
            </a:pPr>
            <a:r>
              <a:t>Categories: Bioinformatics, Cheminformatics, ML/AI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MCP: Convenience vs Context Trade-off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Anti-MCP: Tools you never use still consume tokens</a:t>
            </a:r>
          </a:p>
          <a:p>
            <a:pPr marL="365760" indent="-182880" algn="l">
              <a:buChar char="•"/>
            </a:pPr>
            <a:r>
              <a:t>Alternative: CLI tools with README loaded on-demand</a:t>
            </a:r>
          </a:p>
          <a:p>
            <a:pPr marL="365760" indent="-182880" algn="l">
              <a:buChar char="•"/>
            </a:pPr>
            <a:r>
              <a:t>Pro-MCP: Convenience of always-available tools</a:t>
            </a:r>
          </a:p>
          <a:p>
            <a:pPr marL="365760" indent="-182880" algn="l">
              <a:buChar char="•"/>
            </a:pPr>
            <a:r>
              <a:t>7-9% context window overhead for unused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Git Worktree: Parallel Sessions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git worktree add ../feature-auth feature/auth</a:t>
            </a:r>
          </a:p>
          <a:p>
            <a:pPr marL="365760" indent="-182880" algn="l">
              <a:buChar char="•"/>
            </a:pPr>
            <a:r>
              <a:t>git worktree add ../feature-api feature/api</a:t>
            </a:r>
          </a:p>
          <a:p>
            <a:pPr marL="365760" indent="-182880" algn="l">
              <a:buChar char="•"/>
            </a:pPr>
            <a:r>
              <a:t>Run Claude Code in each (separate terminals)</a:t>
            </a:r>
          </a:p>
          <a:p>
            <a:pPr marL="365760" indent="-182880" algn="l">
              <a:buChar char="•"/>
            </a:pPr>
            <a:r>
              <a:t>Boris Cherny runs 5 Claudes in parallel!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Three Pillars of Agent Efficiency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Workflow Design: Define what agents should do</a:t>
            </a:r>
          </a:p>
          <a:p>
            <a:pPr marL="365760" indent="-182880" algn="l">
              <a:buChar char="•"/>
            </a:pPr>
            <a:r>
              <a:t>2. Context Engineering: Optimize what agents can see</a:t>
            </a:r>
          </a:p>
          <a:p>
            <a:pPr marL="365760" indent="-182880" algn="l">
              <a:buChar char="•"/>
            </a:pPr>
            <a:r>
              <a:t>3. Parallelization: Scale by running multiple agents</a:t>
            </a:r>
          </a:p>
          <a:p>
            <a:pPr marL="365760" indent="-182880" algn="l">
              <a:buChar char="•"/>
            </a:pPr>
            <a:r>
              <a:t>Trust the workflow, then multiply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Getting Started: One Command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npm install -g @anthropic-ai/claude-code</a:t>
            </a:r>
          </a:p>
          <a:p>
            <a:pPr marL="365760" indent="-182880" algn="l">
              <a:buChar char="•"/>
            </a:pPr>
            <a:r>
              <a:t>claude --version</a:t>
            </a:r>
          </a:p>
          <a:p>
            <a:pPr marL="365760" indent="-182880" algn="l">
              <a:buChar char="•"/>
            </a:pPr>
            <a:r>
              <a:t>cd your-project &amp;&amp; claude</a:t>
            </a:r>
          </a:p>
          <a:p>
            <a:pPr marL="365760" indent="-182880" algn="l">
              <a:buChar char="•"/>
            </a:pPr>
            <a:r>
              <a:t>First run: authenticate, create ~/.claude/, run /init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Subscription Plans: $20-$200/month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Pro: $20/month — Light usage, small repos</a:t>
            </a:r>
          </a:p>
          <a:p>
            <a:pPr marL="365760" indent="-182880" algn="l">
              <a:buChar char="•"/>
            </a:pPr>
            <a:r>
              <a:t>Max 5x: $100/month — Moderate usage, larger repos</a:t>
            </a:r>
          </a:p>
          <a:p>
            <a:pPr marL="365760" indent="-182880" algn="l">
              <a:buChar char="•"/>
            </a:pPr>
            <a:r>
              <a:t>Max 20x: $200/month — Heavy usage, complex projects</a:t>
            </a:r>
          </a:p>
          <a:p>
            <a:pPr marL="365760" indent="-182880" algn="l">
              <a:buChar char="•"/>
            </a:pPr>
            <a:r>
              <a:t>Usage shared across Claude web, desktop,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Statusline: Real-time Monitoring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model.display_name: Current model</a:t>
            </a:r>
          </a:p>
          <a:p>
            <a:pPr marL="365760" indent="-182880" algn="l">
              <a:buChar char="•"/>
            </a:pPr>
            <a:r>
              <a:t>tokens.input / tokens.output: Token counts</a:t>
            </a:r>
          </a:p>
          <a:p>
            <a:pPr marL="365760" indent="-182880" algn="l">
              <a:buChar char="•"/>
            </a:pPr>
            <a:r>
              <a:t>cost.current / cost.total: Cost tracking</a:t>
            </a:r>
          </a:p>
          <a:p>
            <a:pPr marL="365760" indent="-182880" algn="l">
              <a:buChar char="•"/>
            </a:pPr>
            <a:r>
              <a:t>Setup: /statusline show model and context usage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/status Command: Session Dashboard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Status: Version, session ID, model, MCP servers, memory</a:t>
            </a:r>
          </a:p>
          <a:p>
            <a:pPr marL="365760" indent="-182880" algn="l">
              <a:buChar char="•"/>
            </a:pPr>
            <a:r>
              <a:t>Config: Preferences, theme, checkpoints</a:t>
            </a:r>
          </a:p>
          <a:p>
            <a:pPr marL="365760" indent="-182880" algn="l">
              <a:buChar char="•"/>
            </a:pPr>
            <a:r>
              <a:t>Usage: Context percentage, weekly limits</a:t>
            </a:r>
          </a:p>
          <a:p>
            <a:pPr marL="365760" indent="-182880" algn="l">
              <a:buChar char="•"/>
            </a:pPr>
            <a:r>
              <a:t>Demo: Switch between tabs with Tab key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CLAUDE.md: Project-Specific Context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# Project Name, ## Tech Stack, ## Commands, ## Conventions</a:t>
            </a:r>
          </a:p>
          <a:p>
            <a:pPr marL="731520" lvl="1" indent="-182880" algn="l">
              <a:buChar char="•"/>
            </a:pPr>
            <a:r>
              <a:t>Example: Python 3.11, FastAPI, PostgreSQL</a:t>
            </a:r>
          </a:p>
          <a:p>
            <a:pPr marL="731520" lvl="1" indent="-182880" algn="l">
              <a:buChar char="•"/>
            </a:pPr>
            <a:r>
              <a:t>Example: pytest tests/, uvicorn main:app --reload</a:t>
            </a:r>
          </a:p>
          <a:p>
            <a:pPr marL="365760" indent="-182880" algn="l">
              <a:buChar char="•"/>
            </a:pPr>
            <a:r>
              <a:t>Hierarchy: ~/.claude/ → parent → project → subdirectory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Four Permission Modes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default: Prompts for first use of each tool</a:t>
            </a:r>
          </a:p>
          <a:p>
            <a:pPr marL="365760" indent="-182880" algn="l">
              <a:buChar char="•"/>
            </a:pPr>
            <a:r>
              <a:t>acceptEdits: Auto-accepts file edits for session</a:t>
            </a:r>
          </a:p>
          <a:p>
            <a:pPr marL="365760" indent="-182880" algn="l">
              <a:buChar char="•"/>
            </a:pPr>
            <a:r>
              <a:t>plan: Read-only analysis, no modifications</a:t>
            </a:r>
          </a:p>
          <a:p>
            <a:pPr marL="365760" indent="-182880" algn="l">
              <a:buChar char="•"/>
            </a:pPr>
            <a:r>
              <a:t>bypassPermissions: Skips all prompts (safe only)</a:t>
            </a:r>
          </a:p>
          <a:p>
            <a:pPr marL="365760" indent="-182880" algn="l">
              <a:buChar char="•"/>
            </a:pPr>
            <a:r>
              <a:t>Switch with Shift+Tab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Granular Permission Rules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allow: ["Bash(npm run test:*)", "Bash(git:*)"]</a:t>
            </a:r>
          </a:p>
          <a:p>
            <a:pPr marL="365760" indent="-182880" algn="l">
              <a:buChar char="•"/>
            </a:pPr>
            <a:r>
              <a:t>deny: ["Read(./.env)", "Read(**/*.key)"]</a:t>
            </a:r>
          </a:p>
          <a:p>
            <a:pPr marL="365760" indent="-182880" algn="l">
              <a:buChar char="•"/>
            </a:pPr>
            <a:r>
              <a:t>ask: ["Bash(git push:*)", "Bash(rm:*)"]</a:t>
            </a:r>
          </a:p>
          <a:p>
            <a:pPr marL="365760" indent="-182880" algn="l">
              <a:buChar char="•"/>
            </a:pPr>
            <a:r>
              <a:t>Evaluation order: deny → allow → 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Hooks: Custom Tool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PreToolUse: Run validator before Bash commands</a:t>
            </a:r>
          </a:p>
          <a:p>
            <a:pPr marL="365760" indent="-182880" algn="l">
              <a:buChar char="•"/>
            </a:pPr>
            <a:r>
              <a:t>PostToolUse: Run scripts after tool execution</a:t>
            </a:r>
          </a:p>
          <a:p>
            <a:pPr marL="365760" indent="-182880" algn="l">
              <a:buChar char="•"/>
            </a:pPr>
            <a:r>
              <a:t>PermissionRequest: Custom permission logic</a:t>
            </a:r>
          </a:p>
          <a:p>
            <a:pPr marL="365760" indent="-182880" algn="l">
              <a:buChar char="•"/>
            </a:pPr>
            <a:r>
              <a:t>Can block, modify, or auto-approve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The "Lethal Trifecta" Security Risk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Access to private data (env vars, credentials)</a:t>
            </a:r>
          </a:p>
          <a:p>
            <a:pPr marL="365760" indent="-182880" algn="l">
              <a:buChar char="•"/>
            </a:pPr>
            <a:r>
              <a:t>2. Exposure to untrusted content (web, user input)</a:t>
            </a:r>
          </a:p>
          <a:p>
            <a:pPr marL="365760" indent="-182880" algn="l">
              <a:buChar char="•"/>
            </a:pPr>
            <a:r>
              <a:t>3. External communication ability (network access)</a:t>
            </a:r>
          </a:p>
          <a:p>
            <a:pPr marL="365760" indent="-182880" algn="l">
              <a:buChar char="•"/>
            </a:pPr>
            <a:r>
              <a:t>"Text into your LLM = control over tools"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Cursor vs Claude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Paradigm: Enhanced IDE vs Autonomous Agent</a:t>
            </a:r>
          </a:p>
          <a:p>
            <a:pPr marL="365760" indent="-182880" algn="l">
              <a:buChar char="•"/>
            </a:pPr>
            <a:r>
              <a:t>Interface: GUI (VS Code fork) vs CLI</a:t>
            </a:r>
          </a:p>
          <a:p>
            <a:pPr marL="365760" indent="-182880" algn="l">
              <a:buChar char="•"/>
            </a:pPr>
            <a:r>
              <a:t>Model: User-selectable vs Claude (optimized)</a:t>
            </a:r>
          </a:p>
          <a:p>
            <a:pPr marL="365760" indent="-182880" algn="l">
              <a:buChar char="•"/>
            </a:pPr>
            <a:r>
              <a:t>Execution: User-initiated vs Autonomous</a:t>
            </a:r>
          </a:p>
          <a:p>
            <a:pPr marL="365760" indent="-182880" algn="l">
              <a:buChar char="•"/>
            </a:pPr>
            <a:r>
              <a:t>Context: IDE-provided vs Full filesystem + shell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When to Use Each Tool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Cursor: Quick inline edits, code explanation, GUI preference</a:t>
            </a:r>
          </a:p>
          <a:p>
            <a:pPr marL="365760" indent="-182880" algn="l">
              <a:buChar char="•"/>
            </a:pPr>
            <a:r>
              <a:t>Claude Code: Multi-file refactoring, autonomous completion</a:t>
            </a:r>
          </a:p>
          <a:p>
            <a:pPr marL="365760" indent="-182880" algn="l">
              <a:buChar char="•"/>
            </a:pPr>
            <a:r>
              <a:t>Claude Code: Pipeline automation, shell tasks</a:t>
            </a:r>
          </a:p>
          <a:p>
            <a:pPr marL="365760" indent="-182880" algn="l">
              <a:buChar char="•"/>
            </a:pPr>
            <a:r>
              <a:t>Many developers use both for different contexts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Alternative Tools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OpenCode: 75+ providers, free — Budget, model flexibility</a:t>
            </a:r>
          </a:p>
          <a:p>
            <a:pPr marL="365760" indent="-182880" algn="l">
              <a:buChar char="•"/>
            </a:pPr>
            <a:r>
              <a:t>Aider: Code graph, git — Monorepos, explicit control</a:t>
            </a:r>
          </a:p>
          <a:p>
            <a:pPr marL="365760" indent="-182880" algn="l">
              <a:buChar char="•"/>
            </a:pPr>
            <a:r>
              <a:t>Gemini CLI: 1M context, free tier — Google Cloud, docs</a:t>
            </a:r>
          </a:p>
          <a:p>
            <a:pPr marL="365760" indent="-182880" algn="l">
              <a:buChar char="•"/>
            </a:pPr>
            <a:r>
              <a:t>Codex CLI: GitHub Actions — CI/CD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SWE-bench Performance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Claude Code + Opus 4.5: 80.9%</a:t>
            </a:r>
          </a:p>
          <a:p>
            <a:pPr marL="365760" indent="-182880" algn="l">
              <a:buChar char="•"/>
            </a:pPr>
            <a:r>
              <a:t>Aider: 67%</a:t>
            </a:r>
          </a:p>
          <a:p>
            <a:pPr marL="365760" indent="-182880" algn="l">
              <a:buChar char="•"/>
            </a:pPr>
            <a:r>
              <a:t>Cline: 63%</a:t>
            </a:r>
          </a:p>
          <a:p>
            <a:pPr marL="365760" indent="-182880" algn="l">
              <a:buChar char="•"/>
            </a:pPr>
            <a:r>
              <a:t>Gemini 2.5 Pro: 63.8%</a:t>
            </a:r>
          </a:p>
          <a:p>
            <a:pPr marL="365760" indent="-182880" algn="l">
              <a:buChar char="•"/>
            </a:pPr>
            <a:r>
              <a:t>Benchmarks vary by methodology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This Presentation: The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CLAUDE.md → scratch/SCRATCH.md (raw notes)</a:t>
            </a:r>
          </a:p>
          <a:p>
            <a:pPr marL="731520" lvl="1" indent="-182880" algn="l">
              <a:buChar char="•"/>
            </a:pPr>
            <a:r>
              <a:t>docs/topics/*.md (organized knowledge)</a:t>
            </a:r>
          </a:p>
          <a:p>
            <a:pPr marL="731520" lvl="1" indent="-182880" algn="l">
              <a:buChar char="•"/>
            </a:pPr>
            <a:r>
              <a:t>docs/NARRATIVE.md (flow structure)</a:t>
            </a:r>
          </a:p>
          <a:p>
            <a:pPr marL="731520" lvl="1" indent="-182880" algn="l">
              <a:buChar char="•"/>
            </a:pPr>
            <a:r>
              <a:t>docs/PRESENTATION.md (slide outline)</a:t>
            </a:r>
          </a:p>
          <a:p>
            <a:pPr marL="731520" lvl="1" indent="-182880" algn="l">
              <a:buChar char="•"/>
            </a:pPr>
            <a:r>
              <a:t>*.pptx (Skills-generated output)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Git Commits Document Collaboration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Initial scaffolding</a:t>
            </a:r>
          </a:p>
          <a:p>
            <a:pPr marL="365760" indent="-182880" algn="l">
              <a:buChar char="•"/>
            </a:pPr>
            <a:r>
              <a:t>2. Phase 1: Research compilation</a:t>
            </a:r>
          </a:p>
          <a:p>
            <a:pPr marL="365760" indent="-182880" algn="l">
              <a:buChar char="•"/>
            </a:pPr>
            <a:r>
              <a:t>3. Additional research: permissions, alternatives</a:t>
            </a:r>
          </a:p>
          <a:p>
            <a:pPr marL="365760" indent="-182880" algn="l">
              <a:buChar char="•"/>
            </a:pPr>
            <a:r>
              <a:t>4. Narrative structure</a:t>
            </a:r>
          </a:p>
          <a:p>
            <a:pPr marL="365760" indent="-182880" algn="l">
              <a:buChar char="•"/>
            </a:pPr>
            <a:r>
              <a:t>5. Slide outline generation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[Live Demo] Practical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Show /status, /statusline commands</a:t>
            </a:r>
          </a:p>
          <a:p>
            <a:pPr marL="365760" indent="-182880" algn="l">
              <a:buChar char="•"/>
            </a:pPr>
            <a:r>
              <a:t>2. Install a skill via /plugin</a:t>
            </a:r>
          </a:p>
          <a:p>
            <a:pPr marL="365760" indent="-182880" algn="l">
              <a:buChar char="•"/>
            </a:pPr>
            <a:r>
              <a:t>3. Run /init on a sample project</a:t>
            </a:r>
          </a:p>
          <a:p>
            <a:pPr marL="365760" indent="-182880" algn="l">
              <a:buChar char="•"/>
            </a:pPr>
            <a:r>
              <a:t>4. Simple code modification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Ralph-Wiggum: Iterative Loops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"While loop that feeds AI agent a prompt until completion"</a:t>
            </a:r>
          </a:p>
          <a:p>
            <a:pPr marL="365760" indent="-182880" algn="l">
              <a:buChar char="•"/>
            </a:pPr>
            <a:r>
              <a:t>Deterministic stopping criteria</a:t>
            </a:r>
          </a:p>
          <a:p>
            <a:pPr marL="365760" indent="-182880" algn="l">
              <a:buChar char="•"/>
            </a:pPr>
            <a:r>
              <a:t>Failure-as-data: setbacks guide refinement</a:t>
            </a:r>
          </a:p>
          <a:p>
            <a:pPr marL="365760" indent="-182880" algn="l">
              <a:buChar char="•"/>
            </a:pPr>
            <a:r>
              <a:t>"LLMs are mirrors of operator skill"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Adoption Is the 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Old: Write code myself → New: Design workflows</a:t>
            </a:r>
          </a:p>
          <a:p>
            <a:pPr marL="365760" indent="-182880" algn="l">
              <a:buChar char="•"/>
            </a:pPr>
            <a:r>
              <a:t>Old: One-shot prompts → New: Iterative loops</a:t>
            </a:r>
          </a:p>
          <a:p>
            <a:pPr marL="365760" indent="-182880" algn="l">
              <a:buChar char="•"/>
            </a:pPr>
            <a:r>
              <a:t>Old: Static instructions → New: Improved artifacts</a:t>
            </a:r>
          </a:p>
          <a:p>
            <a:pPr marL="365760" indent="-182880" algn="l">
              <a:buChar char="•"/>
            </a:pPr>
            <a:r>
              <a:t>Old: Single session → New: Parallel agents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1. Claude Code = LLM + filesystem = general agent</a:t>
            </a:r>
          </a:p>
          <a:p>
            <a:pPr marL="365760" indent="-182880" algn="l">
              <a:buChar char="•"/>
            </a:pPr>
            <a:r>
              <a:t>2. Workflows compound with each CLAUDE.md update</a:t>
            </a:r>
          </a:p>
          <a:p>
            <a:pPr marL="365760" indent="-182880" algn="l">
              <a:buChar char="•"/>
            </a:pPr>
            <a:r>
              <a:t>3. Context engineering is fundamental</a:t>
            </a:r>
          </a:p>
          <a:p>
            <a:pPr marL="365760" indent="-182880" algn="l">
              <a:buChar char="•"/>
            </a:pPr>
            <a:r>
              <a:t>4. Git worktree enables parallelization</a:t>
            </a:r>
          </a:p>
          <a:p>
            <a:pPr marL="365760" indent="-182880" algn="l">
              <a:buChar char="•"/>
            </a:pPr>
            <a:r>
              <a:t>5. Future: iterative loops until completion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Resources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Official: code.claude.com/docs</a:t>
            </a:r>
          </a:p>
          <a:p>
            <a:pPr marL="731520" lvl="1" indent="-182880" algn="l">
              <a:buChar char="•"/>
            </a:pPr>
            <a:r>
              <a:t>DeepLearning.ai Course</a:t>
            </a:r>
          </a:p>
          <a:p>
            <a:pPr marL="365760" indent="-182880" algn="l">
              <a:buChar char="•"/>
            </a:pPr>
            <a:r>
              <a:t>Skills: github.com/anthropics/skills</a:t>
            </a:r>
          </a:p>
          <a:p>
            <a:pPr marL="731520" lvl="1" indent="-182880" algn="l">
              <a:buChar char="•"/>
            </a:pPr>
            <a:r>
              <a:t>K-Dense-AI/claude-scientific-skills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How might this change our team's workflows?</a:t>
            </a:r>
          </a:p>
          <a:p>
            <a:pPr marL="365760" indent="-182880" algn="l">
              <a:buChar char="•"/>
            </a:pPr>
            <a:r>
              <a:t>What tasks benefit most from agent automation?</a:t>
            </a:r>
          </a:p>
          <a:p>
            <a:pPr marL="365760" indent="-182880" algn="l">
              <a:buChar char="•"/>
            </a:pPr>
            <a:r>
              <a:t>Security considerations for our environment</a:t>
            </a:r>
          </a:p>
          <a:p>
            <a:pPr marL="365760" indent="-182880" algn="l">
              <a:buChar char="•"/>
            </a:pPr>
            <a:r>
              <a:t>Skill development for our specific use cases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Appendix: Four Core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Read: File contents, images, PDFs</a:t>
            </a:r>
          </a:p>
          <a:p>
            <a:pPr marL="365760" indent="-182880" algn="l">
              <a:buChar char="•"/>
            </a:pPr>
            <a:r>
              <a:t>Write: Create new files</a:t>
            </a:r>
          </a:p>
          <a:p>
            <a:pPr marL="365760" indent="-182880" algn="l">
              <a:buChar char="•"/>
            </a:pPr>
            <a:r>
              <a:t>Edit: String replacement in files</a:t>
            </a:r>
          </a:p>
          <a:p>
            <a:pPr marL="365760" indent="-182880" algn="l">
              <a:buChar char="•"/>
            </a:pPr>
            <a:r>
              <a:t>Bash: Shell command execution</a:t>
            </a:r>
          </a:p>
          <a:p>
            <a:pPr marL="365760" indent="-182880" algn="l">
              <a:buChar char="•"/>
            </a:pPr>
            <a:r>
              <a:t>"Four tools outperform complex ecosystems" — Zechner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Appendix: MCP Server 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/plugin install @anthropic-ai/mcp-server-github</a:t>
            </a:r>
          </a:p>
          <a:p>
            <a:pPr marL="365760" indent="-182880" algn="l">
              <a:buChar char="•"/>
            </a:pPr>
            <a:r>
              <a:t>/plugin install @anthropic-ai/mcp-server-context7</a:t>
            </a:r>
          </a:p>
          <a:p>
            <a:pPr marL="365760" indent="-182880" algn="l">
              <a:buChar char="•"/>
            </a:pPr>
            <a:r>
              <a:t>Available servers: GitHub, databases, APIs</a:t>
            </a:r>
          </a:p>
          <a:p>
            <a:pPr marL="365760" indent="-182880" algn="l">
              <a:buChar char="•"/>
            </a:pPr>
            <a:r>
              <a:t>Trade-off: Convenience vs context overhead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129FC-6483-2679-A548-5A45339B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b="1"/>
              <a:t>Appendix: Gemini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FB3D-A019-CA34-64A7-F5D0E6BC6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65760" indent="-18288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100000"/>
              <a:buChar char="•"/>
            </a:pPr>
            <a:r>
              <a:t>1 million token context window</a:t>
            </a:r>
          </a:p>
          <a:p>
            <a:pPr marL="365760" indent="-182880" algn="l">
              <a:buChar char="•"/>
            </a:pPr>
            <a:r>
              <a:t>60 requests/minute, 1000/day (free)</a:t>
            </a:r>
          </a:p>
          <a:p>
            <a:pPr marL="365760" indent="-182880" algn="l">
              <a:buChar char="•"/>
            </a:pPr>
            <a:r>
              <a:t>Deep Google Cloud integration</a:t>
            </a:r>
          </a:p>
          <a:p>
            <a:pPr marL="365760" indent="-182880" algn="l">
              <a:buChar char="•"/>
            </a:pPr>
            <a:r>
              <a:t>Lower SWE-bench scores than Claude</a:t>
            </a:r>
          </a:p>
          <a:p>
            <a:pPr marL="365760" indent="-182880" algn="l">
              <a:buChar char="•"/>
            </a:pPr>
            <a:r>
              <a:t>Best for: Google Cloud, documentation, exploration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74582-EDD4-AA3F-C307-CFA57D569FA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a02956-e5b0-401a-adb6-d3ab856a8db1">
      <Terms xmlns="http://schemas.microsoft.com/office/infopath/2007/PartnerControls"/>
    </lcf76f155ced4ddcb4097134ff3c332f>
    <TaxCatchAll xmlns="758526ea-ff42-49f4-966e-8b92dfb8c37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D000A7A8EA4549909635EE44265AE2" ma:contentTypeVersion="12" ma:contentTypeDescription="Create a new document." ma:contentTypeScope="" ma:versionID="7f357fbe57b84af1bdddcd22c912bac7">
  <xsd:schema xmlns:xsd="http://www.w3.org/2001/XMLSchema" xmlns:xs="http://www.w3.org/2001/XMLSchema" xmlns:p="http://schemas.microsoft.com/office/2006/metadata/properties" xmlns:ns2="baa02956-e5b0-401a-adb6-d3ab856a8db1" xmlns:ns3="758526ea-ff42-49f4-966e-8b92dfb8c37c" targetNamespace="http://schemas.microsoft.com/office/2006/metadata/properties" ma:root="true" ma:fieldsID="f01aca49933565aaf8490f47588de525" ns2:_="" ns3:_="">
    <xsd:import namespace="baa02956-e5b0-401a-adb6-d3ab856a8db1"/>
    <xsd:import namespace="758526ea-ff42-49f4-966e-8b92dfb8c3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a02956-e5b0-401a-adb6-d3ab856a8d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1fcaec3-bbe8-47cb-8230-d56e5e00ee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8526ea-ff42-49f4-966e-8b92dfb8c37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dab7eb4-bfd3-4979-82d9-0ddc6ac1411b}" ma:internalName="TaxCatchAll" ma:showField="CatchAllData" ma:web="758526ea-ff42-49f4-966e-8b92dfb8c3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04B941D-E84F-47C8-84C7-8C66135B4CA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17E194-3F2D-4BC4-9EAF-A0569BAF4335}">
  <ds:schemaRefs>
    <ds:schemaRef ds:uri="baa02956-e5b0-401a-adb6-d3ab856a8db1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758526ea-ff42-49f4-966e-8b92dfb8c37c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A62184A-FEE7-42AA-86BE-4760650221E9}">
  <ds:schemaRefs>
    <ds:schemaRef ds:uri="758526ea-ff42-49f4-966e-8b92dfb8c37c"/>
    <ds:schemaRef ds:uri="baa02956-e5b0-401a-adb6-d3ab856a8d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1752</Words>
  <Application>Microsoft Macintosh PowerPoint</Application>
  <PresentationFormat>Widescreen</PresentationFormat>
  <Paragraphs>269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Helvetica</vt:lpstr>
      <vt:lpstr>Helvetica Neue</vt:lpstr>
      <vt:lpstr>Helvetica Neue Light</vt:lpstr>
      <vt:lpstr>Black</vt:lpstr>
      <vt:lpstr>Claude Code: From Coding to Workflow Design</vt:lpstr>
      <vt:lpstr>The Old vs New Mental Model</vt:lpstr>
      <vt:lpstr>Engineers Design Systems, Not Write Code</vt:lpstr>
      <vt:lpstr>Communicate Intent, Not Implementation</vt:lpstr>
      <vt:lpstr>Compound Efficiency Through Updates</vt:lpstr>
      <vt:lpstr>Claude Code: A General Agent Timeline</vt:lpstr>
      <vt:lpstr>Automate Anything You Can Type</vt:lpstr>
      <vt:lpstr>LLM + File System Access = Agent</vt:lpstr>
      <vt:lpstr>Simplicity Is the Feature</vt:lpstr>
      <vt:lpstr>The Hard Context Limit</vt:lpstr>
      <vt:lpstr>Context Engineering Is Fundamental</vt:lpstr>
      <vt:lpstr>Monitor Context with /status</vt:lpstr>
      <vt:lpstr>Subagents: Fresh Context Windows</vt:lpstr>
      <vt:lpstr>Taxonomy of Agentic Patterns</vt:lpstr>
      <vt:lpstr>Skills: Markdown Instructions On-Demand</vt:lpstr>
      <vt:lpstr>140+ Scientific Skills Available</vt:lpstr>
      <vt:lpstr>MCP: Convenience vs Context Trade-off</vt:lpstr>
      <vt:lpstr>Git Worktree: Parallel Sessions</vt:lpstr>
      <vt:lpstr>Three Pillars of Agent Efficiency</vt:lpstr>
      <vt:lpstr>Getting Started: One Command</vt:lpstr>
      <vt:lpstr>Subscription Plans: $20-$200/month</vt:lpstr>
      <vt:lpstr>Statusline: Real-time Monitoring</vt:lpstr>
      <vt:lpstr>/status Command: Session Dashboard</vt:lpstr>
      <vt:lpstr>CLAUDE.md: Project-Specific Context</vt:lpstr>
      <vt:lpstr>Four Permission Modes</vt:lpstr>
      <vt:lpstr>Granular Permission Rules</vt:lpstr>
      <vt:lpstr>Hooks: Custom Tool Logic</vt:lpstr>
      <vt:lpstr>The "Lethal Trifecta" Security Risk</vt:lpstr>
      <vt:lpstr>Cursor vs Claude Code</vt:lpstr>
      <vt:lpstr>When to Use Each Tool</vt:lpstr>
      <vt:lpstr>Alternative Tools Comparison</vt:lpstr>
      <vt:lpstr>SWE-bench Performance</vt:lpstr>
      <vt:lpstr>This Presentation: The Workflow</vt:lpstr>
      <vt:lpstr>Git Commits Document Collaboration</vt:lpstr>
      <vt:lpstr>[Live Demo] Practical Workflow</vt:lpstr>
      <vt:lpstr>Ralph-Wiggum: Iterative Loops</vt:lpstr>
      <vt:lpstr>Adoption Is the Challenge</vt:lpstr>
      <vt:lpstr>Key Takeaways</vt:lpstr>
      <vt:lpstr>Resources</vt:lpstr>
      <vt:lpstr>Questions?</vt:lpstr>
      <vt:lpstr>Appendix: Four Core Tools</vt:lpstr>
      <vt:lpstr>Appendix: MCP Server Setup</vt:lpstr>
      <vt:lpstr>Appendix: Gemini CLI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leon weinreb</dc:creator>
  <cp:lastModifiedBy>changhee@somite.ai</cp:lastModifiedBy>
  <cp:revision>16</cp:revision>
  <dcterms:modified xsi:type="dcterms:W3CDTF">2026-01-14T16:33:48Z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0x010100C8D000A7A8EA4549909635EE44265AE2</vt:lpwstr>
  </property>
  <property fmtid="{D5CDD505-2E9C-101B-9397-08002B2CF9AE}" pid="3" name="MediaServiceImageTags">
    <vt:lpwstr/>
  </property>
</Properties>
</file>